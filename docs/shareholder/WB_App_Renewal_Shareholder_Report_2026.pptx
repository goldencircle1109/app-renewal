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(주)라이트브라더스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리뉴얼 사업 보고서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2743200" cy="4572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062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정기 주주총회 | 2026.03.31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대표이사 김병수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0972800" cy="0"/>
          </a:xfrm>
          <a:prstGeom prst="rect">
            <a:avLst/>
          </a:prstGeom>
          <a:solidFill>
            <a:srgbClr val="CADCFC"/>
          </a:solidFill>
          <a:ln/>
        </p:spPr>
        <p:txBody>
          <a:bodyPr wrap="square" lIns="127000" tIns="190500" rIns="190500" bIns="12700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자전거 전용 앱 → 멀티스포츠 탄소저감 플랫폼으로 전환하여 하락 추세를 반전시키고, STO(토큰증권)까지 확장합니다.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(As-Is)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5029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수치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추세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MAU (앱+웹)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~4,000명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74C3C"/>
                          </a:solidFill>
                        </a:rPr>
                        <a:t>▼30-35%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Android 설치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7,180명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Android 평점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1.00★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심각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인프라 비용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190만원/월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-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0" y="1645920"/>
            <a:ext cx="4572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(To-Be)</a:t>
            </a:r>
            <a:endParaRPr lang="en-US" sz="18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103120"/>
          <a:ext cx="5029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시점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MAU 목표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성장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Phase 1 (3개월)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10,000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</a:rPr>
                        <a:t>2.5배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Phase 2 (9개월)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30,000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</a:rPr>
                        <a:t>7.5배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Phase 3 (15개월)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50,000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</a:rPr>
                        <a:t>12.5배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Phase 4 (18개월)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100,000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</a:rPr>
                        <a:t>25배</a:t>
                      </a:r>
                      <a:endParaRPr lang="en-US" sz="1100" dirty="0"/>
                    </a:p>
                  </a:txBody>
                  <a:tcPr marL="101600" marR="101600" marT="63500" marB="635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31520" y="4572000"/>
            <a:ext cx="3200400" cy="1645920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9" name="Text 5"/>
          <p:cNvSpPr/>
          <p:nvPr/>
        </p:nvSpPr>
        <p:spPr>
          <a:xfrm>
            <a:off x="731520" y="466344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MAU 목표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731520" y="502920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4K → 100K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731520" y="566928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25배 성장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572000" y="4572000"/>
            <a:ext cx="3200400" cy="1645920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13" name="Text 9"/>
          <p:cNvSpPr/>
          <p:nvPr/>
        </p:nvSpPr>
        <p:spPr>
          <a:xfrm>
            <a:off x="4572000" y="466344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 절감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572000" y="502920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190→123만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4572000" y="566928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804만원 절감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12480" y="4572000"/>
            <a:ext cx="3200400" cy="1645920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17" name="Text 13"/>
          <p:cNvSpPr/>
          <p:nvPr/>
        </p:nvSpPr>
        <p:spPr>
          <a:xfrm>
            <a:off x="8412480" y="466344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기간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412480" y="502920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73주</a:t>
            </a:r>
            <a:endParaRPr lang="en-US" sz="3600" dirty="0"/>
          </a:p>
        </p:txBody>
      </p:sp>
      <p:sp>
        <p:nvSpPr>
          <p:cNvPr id="19" name="Text 15"/>
          <p:cNvSpPr/>
          <p:nvPr/>
        </p:nvSpPr>
        <p:spPr>
          <a:xfrm>
            <a:off x="8412480" y="5669280"/>
            <a:ext cx="3200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Phase 순차 실행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리뉴얼이 필요한 이유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474720" cy="5029200"/>
          </a:xfrm>
          <a:prstGeom prst="roundRect">
            <a:avLst>
              <a:gd name="adj" fmla="val 394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716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기술부채 해소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 11만줄, 테스트 0%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API키 하드코딩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7개 방치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420624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TypeScript + TDD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097280"/>
            <a:ext cx="3474720" cy="5029200"/>
          </a:xfrm>
          <a:prstGeom prst="roundRect">
            <a:avLst>
              <a:gd name="adj" fmla="val 394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371600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 공백 선점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22860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러닝 1,000만명 시장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54880" y="29260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크루+랭킹 통합 앱 없음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356616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파크런 한국 미진출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54880" y="420624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카테고리 킬러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1097280"/>
            <a:ext cx="3474720" cy="5029200"/>
          </a:xfrm>
          <a:prstGeom prst="roundRect">
            <a:avLst>
              <a:gd name="adj" fmla="val 3947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0" y="1371600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137160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 다각화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95360" y="228600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현재: 커머스 수수료만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95360" y="292608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광고 + 오퍼월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95360" y="356616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프리미엄 구독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595360" y="4206240"/>
            <a:ext cx="2560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토큰증권 (STO)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4단계 성장 전략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743200" cy="5029200"/>
          </a:xfrm>
          <a:prstGeom prst="roundRect">
            <a:avLst>
              <a:gd name="adj" fmla="val 5000"/>
            </a:avLst>
          </a:prstGeom>
          <a:solidFill>
            <a:srgbClr val="16213E"/>
          </a:solidFill>
          <a:ln w="25400">
            <a:solidFill>
              <a:srgbClr val="2ECC7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34440" y="1371600"/>
            <a:ext cx="822960" cy="82296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1371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3774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SmartMove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28346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14주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교통수단 자동감지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탄소저감 계산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SSP 포인트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5029200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2ECC71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50292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광고+오퍼월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097280"/>
            <a:ext cx="2743200" cy="5029200"/>
          </a:xfrm>
          <a:prstGeom prst="roundRect">
            <a:avLst>
              <a:gd name="adj" fmla="val 5000"/>
            </a:avLst>
          </a:prstGeom>
          <a:solidFill>
            <a:srgbClr val="16213E"/>
          </a:solidFill>
          <a:ln w="25400">
            <a:solidFill>
              <a:srgbClr val="3498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60520" y="1371600"/>
            <a:ext cx="822960" cy="822960"/>
          </a:xfrm>
          <a:prstGeom prst="ellipse">
            <a:avLst/>
          </a:prstGeom>
          <a:solidFill>
            <a:srgbClr val="3498DB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520" y="1371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200400" y="23774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멀티스포츠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00400" y="28346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18주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32918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GPX 코스 자동생성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양방향 랭킹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파크런 이벤트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74720" y="5029200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3498DB"/>
          </a:solidFill>
          <a:ln/>
        </p:spPr>
      </p:sp>
      <p:sp>
        <p:nvSpPr>
          <p:cNvPr id="18" name="Text 16"/>
          <p:cNvSpPr/>
          <p:nvPr/>
        </p:nvSpPr>
        <p:spPr>
          <a:xfrm>
            <a:off x="3474720" y="50292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+구독+스폰서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1097280"/>
            <a:ext cx="2743200" cy="5029200"/>
          </a:xfrm>
          <a:prstGeom prst="roundRect">
            <a:avLst>
              <a:gd name="adj" fmla="val 5000"/>
            </a:avLst>
          </a:prstGeom>
          <a:solidFill>
            <a:srgbClr val="16213E"/>
          </a:solidFill>
          <a:ln w="25400">
            <a:solidFill>
              <a:srgbClr val="9B59B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86600" y="1371600"/>
            <a:ext cx="822960" cy="822960"/>
          </a:xfrm>
          <a:prstGeom prst="ellipse">
            <a:avLst/>
          </a:prstGeom>
          <a:solidFill>
            <a:srgbClr val="9B59B6"/>
          </a:solidFill>
          <a:ln/>
        </p:spPr>
      </p:sp>
      <p:sp>
        <p:nvSpPr>
          <p:cNvPr id="21" name="Text 19"/>
          <p:cNvSpPr/>
          <p:nvPr/>
        </p:nvSpPr>
        <p:spPr>
          <a:xfrm>
            <a:off x="7086600" y="1371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126480" y="23774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커머스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26480" y="28346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0" y="32918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일반샵+깜깜이방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상품설명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자동화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5029200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9B59B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50292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+수수료 8~20%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052560" y="1097280"/>
            <a:ext cx="2743200" cy="5029200"/>
          </a:xfrm>
          <a:prstGeom prst="roundRect">
            <a:avLst>
              <a:gd name="adj" fmla="val 5000"/>
            </a:avLst>
          </a:prstGeom>
          <a:solidFill>
            <a:srgbClr val="16213E"/>
          </a:solidFill>
          <a:ln w="25400">
            <a:solidFill>
              <a:srgbClr val="E67E2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12680" y="1371600"/>
            <a:ext cx="822960" cy="82296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29" name="Text 27"/>
          <p:cNvSpPr/>
          <p:nvPr/>
        </p:nvSpPr>
        <p:spPr>
          <a:xfrm>
            <a:off x="10012680" y="13716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9052560" y="23774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052560" y="28346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20주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326880" y="32918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탄소 토큰증권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STO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해외 블록체인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326880" y="5029200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E67E22"/>
          </a:solidFill>
          <a:ln/>
        </p:spPr>
      </p:sp>
      <p:sp>
        <p:nvSpPr>
          <p:cNvPr id="34" name="Text 32"/>
          <p:cNvSpPr/>
          <p:nvPr/>
        </p:nvSpPr>
        <p:spPr>
          <a:xfrm>
            <a:off x="9326880" y="50292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+토큰+B2B ESG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834640" y="2743200"/>
            <a:ext cx="457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5760720" y="2743200"/>
            <a:ext cx="457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8686800" y="2743200"/>
            <a:ext cx="457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1: SmartMove + 탄소저감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0972800" cy="0"/>
          </a:xfrm>
          <a:prstGeom prst="rect">
            <a:avLst/>
          </a:prstGeom>
          <a:solidFill>
            <a:srgbClr val="CADCFC"/>
          </a:solidFill>
          <a:ln/>
        </p:spPr>
        <p:txBody>
          <a:bodyPr wrap="square" lIns="101600" tIns="152400" rIns="152400" bIns="1016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스마트폰 센서로 7가지 교통수단을 100% 자동 감지하고, 자동차 대비 탄소저감량을 실시간 계산합니다.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교통수단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감지 방법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정확도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걷기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SmartMove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93%+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러닝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SmartMove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95%+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자전거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센서 + GPS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90%+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버스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GPS + 정류장 지오펜스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90%+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지하철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GPS 신호 소실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85%+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자가용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지오펜스 (집/회사)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90%+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택시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소거법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85%+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0" y="1371600"/>
            <a:ext cx="5029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SSP 정책 (적자 방지 구조)</a:t>
            </a:r>
            <a:endParaRPr lang="en-US" sz="16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737360"/>
          <a:ext cx="53035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731520"/>
                <a:gridCol w="7315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유형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적립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교환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토큰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원가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0D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CARBON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걷기/자전거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불가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가능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₩0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AD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광고 시청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가능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불가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광고수익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SHOP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상품 구매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가능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불가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</a:rPr>
                        <a:t>마진</a:t>
                      </a:r>
                      <a:endParaRPr lang="en-US" sz="1000" dirty="0"/>
                    </a:p>
                  </a:txBody>
                  <a:tcPr marL="63500" marR="635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0" y="347472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0" y="3566160"/>
            <a:ext cx="49377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 SSP → 기프티콘 교환 불가 → 라브 현금 지출 ₩0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SSP → 교환 가능 → 광고수익으로 자체 충당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경우에도 적자 불가능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457200" y="4846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광고 수익 시뮬레이션</a:t>
            </a:r>
            <a:endParaRPr lang="en-US" sz="16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303520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7432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규모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월 수익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연 환산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의미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10,000 MAU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76만원/월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912만원/년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</a:rPr>
                        <a:t>SSP 원가 커버 + 흑자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50,000 MAU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382만원/월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4,584만원/년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</a:rPr>
                        <a:t>Phase 2 개발비 충당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100,000 MAU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763만원/월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9,156만원/년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</a:rPr>
                        <a:t>독립 수익 구조</a:t>
                      </a:r>
                      <a:endParaRPr lang="en-US" sz="1100" dirty="0"/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3: 듀얼 커머스 (일반샵 + 깜깜이방)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303520" cy="4114800"/>
          </a:xfrm>
          <a:prstGeom prst="roundRect">
            <a:avLst>
              <a:gd name="adj" fmla="val 3333"/>
            </a:avLst>
          </a:prstGeom>
          <a:solidFill>
            <a:srgbClr val="F8F9FA"/>
          </a:solidFill>
          <a:ln w="25400">
            <a:solidFill>
              <a:srgbClr val="4A9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A90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일반샵 (Normal Shop)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정가 판매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파트너사 이름 공개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수수료 5~8%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누구나 접근 가능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멀티스포츠 6종 카테고리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0" y="1097280"/>
            <a:ext cx="5303520" cy="4114800"/>
          </a:xfrm>
          <a:prstGeom prst="roundRect">
            <a:avLst>
              <a:gd name="adj" fmla="val 3333"/>
            </a:avLst>
          </a:prstGeom>
          <a:solidFill>
            <a:srgbClr val="1A1A2E"/>
          </a:solidFill>
          <a:ln w="25400">
            <a:solidFill>
              <a:srgbClr val="E67E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11887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깜깜이방 (Dark Room)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2880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할인가 판매 (재고 처리)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파트너사 완전 익명 (LB 명의)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수수료 8~20%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활성 + SSP 입장권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플래시 세일 (한정 수량)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0" y="5486400"/>
            <a:ext cx="6400800" cy="914400"/>
          </a:xfrm>
          <a:prstGeom prst="roundRect">
            <a:avLst>
              <a:gd name="adj" fmla="val 10000"/>
            </a:avLst>
          </a:prstGeom>
          <a:solidFill>
            <a:srgbClr val="FFF3E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26080" y="5577840"/>
            <a:ext cx="60350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깜깜이방 입장권: 월 500 AD/SHOP SSP (광고 시청으로 충당 → 라브 추가 비용 ₩0)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4: 탄소 토큰증권 (STO) + 글로벌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303520" cy="4572000"/>
          </a:xfrm>
          <a:prstGeom prst="roundRect">
            <a:avLst>
              <a:gd name="adj" fmla="val 3000"/>
            </a:avLst>
          </a:prstGeom>
          <a:solidFill>
            <a:srgbClr val="16213E"/>
          </a:solidFill>
          <a:ln w="25400">
            <a:solidFill>
              <a:srgbClr val="2ECC7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801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1: 한국 STO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법적 근거: 자본시장법 + 전자증권법 (2026.01 시행)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거래소: NXT 또는 KDX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구조: 증권사 파트너 API 연동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투자자 신뢰: 높음 (규제 하)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비용: 1~3억원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타겟: 2027 Q1-Q2 런칭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097280"/>
            <a:ext cx="5303520" cy="4572000"/>
          </a:xfrm>
          <a:prstGeom prst="roundRect">
            <a:avLst>
              <a:gd name="adj" fmla="val 3000"/>
            </a:avLst>
          </a:prstGeom>
          <a:solidFill>
            <a:srgbClr val="16213E"/>
          </a:solidFill>
          <a:ln w="25400">
            <a:solidFill>
              <a:srgbClr val="E67E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2: 해외 블록체인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675120" y="201168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법인: 싱가포르 또는 두바이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블록체인: Polygon/Base L2 (ERC-20)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보안감사: CertiK/Trail of Bits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유동성: 전 세계 (DEX 상장)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비용: 1.3~7.6억원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타겟: 2027 Q3-Q4 런칭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5943600"/>
            <a:ext cx="5486400" cy="640080"/>
          </a:xfrm>
          <a:prstGeom prst="roundRect">
            <a:avLst>
              <a:gd name="adj" fmla="val 14286"/>
            </a:avLst>
          </a:prstGeom>
          <a:solidFill>
            <a:srgbClr val="4A90D9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59436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기업 ESG 탄소크레딧 판매: 연 5~20억원 잠재 수익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리스크 및 대응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6858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리스크</a:t>
                      </a:r>
                      <a:endParaRPr lang="en-US" sz="12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심각도</a:t>
                      </a:r>
                      <a:endParaRPr lang="en-US" sz="12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대응 전략</a:t>
                      </a:r>
                      <a:endParaRPr lang="en-US" sz="12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MAU 하락 지속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74C3C"/>
                          </a:solidFill>
                        </a:rPr>
                        <a:t>높음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리뉴얼 + GTM 전략 (기존 13만 회원 활용)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iOS Wi-Fi 스캔 차단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74C3C"/>
                          </a:solidFill>
                        </a:rPr>
                        <a:t>높음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GPS 속도 + 정류장 지오펜스 + CMMotion 대안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1인 개발 체제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중간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Claude AI 병렬 코드생성, Spec-Kit 자동화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STO 규제 불확실성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중간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FSC 사전컨설팅 + 규제 샌드박스 참여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딜러 익명성 유출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74C3C"/>
                          </a:solidFill>
                        </a:rPr>
                        <a:t>높음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API 필터링 + 접근 제한 + 감사 로그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토큰 가격 붕괴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</a:rPr>
                        <a:t>중간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</a:rPr>
                        <a:t>STO 구조로 투기 제한 + 소각 메커니즘</a:t>
                      </a:r>
                      <a:endParaRPr lang="en-US" sz="1100" dirty="0"/>
                    </a:p>
                  </a:txBody>
                  <a:tcPr marL="127000" marR="127000" marT="76200" marB="762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추진 일정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0040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기간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핵심 마일스톤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2026 Q2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Pre-Dev + Phase 1 시작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BRD/PRD 완료, 개발 착수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2026 Q3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Phase 1 완료 + 출시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앱스토어 출시, MAU 10,000 목표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2026 Q4~2027 Q1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Phase 2 멀티스포츠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관광공사 MOU, 파크런 시작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2027 Q1~Q3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Phase 3 커머스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일반샵+깜깜이방, 매출 발생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2027 Q3~2028 Q1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Phase 4 STO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</a:rPr>
                        <a:t>토큰증권 런칭, 글로벌 확장</a:t>
                      </a:r>
                      <a:endParaRPr lang="en-US" sz="1200" dirty="0"/>
                    </a:p>
                  </a:txBody>
                  <a:tcPr marL="152400" marR="152400" marT="101600" marB="10160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2743200" y="5029200"/>
            <a:ext cx="6400800" cy="13716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5" name="Text 2"/>
          <p:cNvSpPr/>
          <p:nvPr/>
        </p:nvSpPr>
        <p:spPr>
          <a:xfrm>
            <a:off x="2743200" y="5120640"/>
            <a:ext cx="6400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개발 기간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743200" y="5394960"/>
            <a:ext cx="6400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73주 (약 18개월)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2743200" y="5943600"/>
            <a:ext cx="6400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가속 시 56~62주 (약 14~15.5개월)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결론 및 승인 요청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2743200" cy="4572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MAU ~4,000, 전 지표 하락 중인 상황에서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리뉴얼은 선택이 아닌 필수입니다.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0515600" cy="731520"/>
          </a:xfrm>
          <a:prstGeom prst="roundRect">
            <a:avLst>
              <a:gd name="adj" fmla="val 12500"/>
            </a:avLst>
          </a:prstGeom>
          <a:solidFill>
            <a:srgbClr val="16213E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6060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6060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리뉴얼 프로젝트 승인 (Phase 1~4, 73주)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3474720"/>
            <a:ext cx="10515600" cy="731520"/>
          </a:xfrm>
          <a:prstGeom prst="roundRect">
            <a:avLst>
              <a:gd name="adj" fmla="val 12500"/>
            </a:avLst>
          </a:prstGeom>
          <a:solidFill>
            <a:srgbClr val="16213E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5204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5204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DB 보존 + 신규 개발 (Aurora MySQL 107개 테이블 유지)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389120"/>
            <a:ext cx="10515600" cy="731520"/>
          </a:xfrm>
          <a:prstGeom prst="roundRect">
            <a:avLst>
              <a:gd name="adj" fmla="val 12500"/>
            </a:avLst>
          </a:prstGeom>
          <a:solidFill>
            <a:srgbClr val="16213E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4348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44348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 Phase 4 사전 준비 (FSC 컨설팅 + 법무 검토)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5303520"/>
            <a:ext cx="10515600" cy="731520"/>
          </a:xfrm>
          <a:prstGeom prst="roundRect">
            <a:avLst>
              <a:gd name="adj" fmla="val 12500"/>
            </a:avLst>
          </a:prstGeom>
          <a:solidFill>
            <a:srgbClr val="16213E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34924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90D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63040" y="53492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 비용 절감 계속 (190만 → 123만원/월)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0" y="6217920"/>
            <a:ext cx="12188952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5A5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App Renewal Shareholder Report 2026</dc:subject>
  <dc:creator>Wright Brothers Co., Ltd</dc:creator>
  <cp:lastModifiedBy>Wright Brothers Co., Ltd</cp:lastModifiedBy>
  <cp:revision>1</cp:revision>
  <dcterms:created xsi:type="dcterms:W3CDTF">2026-03-28T16:35:13Z</dcterms:created>
  <dcterms:modified xsi:type="dcterms:W3CDTF">2026-03-28T16:35:13Z</dcterms:modified>
</cp:coreProperties>
</file>