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notesSlides/notesSlide10.xml" ContentType="application/vnd.openxmlformats-officedocument.presentationml.notesSlide+xml"/>
  <Override PartName="/ppt/charts/chart3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4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76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2" r:id="rId17"/>
    <p:sldId id="273" r:id="rId18"/>
    <p:sldId id="275" r:id="rId19"/>
    <p:sldId id="270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778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334155"/>
                </a:solidFill>
                <a:latin typeface="Pretendard"/>
              </a:defRPr>
            </a:pPr>
            <a:r>
              <a:rPr lang="ko-KR" altLang="en-US" sz="1000" b="0" i="0" u="none" strike="noStrike">
                <a:solidFill>
                  <a:srgbClr val="334155"/>
                </a:solidFill>
                <a:latin typeface="Pretendard"/>
              </a:rPr>
              <a:t>대표코스 </a:t>
            </a:r>
            <a:r>
              <a:rPr lang="en-US" altLang="ko-KR" sz="1000" b="0" i="0" u="none" strike="noStrike">
                <a:solidFill>
                  <a:srgbClr val="334155"/>
                </a:solidFill>
                <a:latin typeface="Pretendard"/>
              </a:rPr>
              <a:t>60</a:t>
            </a:r>
            <a:r>
              <a:rPr lang="ko-KR" altLang="en-US" sz="1000" b="0" i="0" u="none" strike="noStrike">
                <a:solidFill>
                  <a:srgbClr val="334155"/>
                </a:solidFill>
                <a:latin typeface="Pretendard"/>
              </a:rPr>
              <a:t>선 권역별 분포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코스 수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Pretendard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서울/경기/강원</c:v>
                </c:pt>
                <c:pt idx="1">
                  <c:v>대전/세종/충청</c:v>
                </c:pt>
                <c:pt idx="2">
                  <c:v>대구/경북</c:v>
                </c:pt>
                <c:pt idx="3">
                  <c:v>광주/전라</c:v>
                </c:pt>
                <c:pt idx="4">
                  <c:v>부산/경남</c:v>
                </c:pt>
                <c:pt idx="5">
                  <c:v>제주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17</c:v>
                </c:pt>
                <c:pt idx="1">
                  <c:v>9</c:v>
                </c:pt>
                <c:pt idx="2">
                  <c:v>6</c:v>
                </c:pt>
                <c:pt idx="3">
                  <c:v>10</c:v>
                </c:pt>
                <c:pt idx="4">
                  <c:v>12</c:v>
                </c:pt>
                <c:pt idx="5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E43-4BE9-8F47-A06F84FF2B5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475569"/>
                </a:solidFill>
                <a:latin typeface="Pretendard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Pretendard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분포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C7EB-4D95-9FE8-E60FB2051F41}"/>
              </c:ext>
            </c:extLst>
          </c:dPt>
          <c:dPt>
            <c:idx val="1"/>
            <c:bubble3D val="0"/>
            <c:spPr>
              <a:solidFill>
                <a:srgbClr val="05966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7EB-4D95-9FE8-E60FB2051F41}"/>
              </c:ext>
            </c:extLst>
          </c:dPt>
          <c:dPt>
            <c:idx val="2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7EB-4D95-9FE8-E60FB2051F41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334155"/>
                      </a:solidFill>
                      <a:latin typeface="Pretendard"/>
                    </a:defRPr>
                  </a:pPr>
                  <a:endParaRPr lang="ko-K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C7EB-4D95-9FE8-E60FB2051F41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334155"/>
                      </a:solidFill>
                      <a:latin typeface="Pretendard"/>
                    </a:defRPr>
                  </a:pPr>
                  <a:endParaRPr lang="ko-K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C7EB-4D95-9FE8-E60FB2051F41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334155"/>
                      </a:solidFill>
                      <a:latin typeface="Pretendard"/>
                    </a:defRPr>
                  </a:pPr>
                  <a:endParaRPr lang="ko-K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C7EB-4D95-9FE8-E60FB2051F41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Pretendard"/>
                  </a:defRPr>
                </a:pPr>
                <a:endParaRPr lang="ko-KR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호주</c:v>
                </c:pt>
                <c:pt idx="1">
                  <c:v>영국</c:v>
                </c:pt>
                <c:pt idx="2">
                  <c:v>기타 21개국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</c:v>
                </c:pt>
                <c:pt idx="1">
                  <c:v>500</c:v>
                </c:pt>
                <c:pt idx="2">
                  <c:v>500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C7EB-4D95-9FE8-E60FB2051F4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00">
              <a:solidFill>
                <a:srgbClr val="475569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거리(km)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 i="0" u="none" strike="noStrike">
                    <a:solidFill>
                      <a:srgbClr val="334155"/>
                    </a:solidFill>
                    <a:latin typeface="Pretendard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국토종주</c:v>
                </c:pt>
                <c:pt idx="1">
                  <c:v>동해안(강원)</c:v>
                </c:pt>
                <c:pt idx="2">
                  <c:v>제주환상</c:v>
                </c:pt>
                <c:pt idx="3">
                  <c:v>금강</c:v>
                </c:pt>
                <c:pt idx="4">
                  <c:v>섬진강</c:v>
                </c:pt>
                <c:pt idx="5">
                  <c:v>영산강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633</c:v>
                </c:pt>
                <c:pt idx="1">
                  <c:v>242</c:v>
                </c:pt>
                <c:pt idx="2">
                  <c:v>234</c:v>
                </c:pt>
                <c:pt idx="3">
                  <c:v>146</c:v>
                </c:pt>
                <c:pt idx="4">
                  <c:v>149</c:v>
                </c:pt>
                <c:pt idx="5">
                  <c:v>133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C06-4D10-92D4-581A69B50EB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475569"/>
                </a:solidFill>
                <a:latin typeface="Pretendard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4748B"/>
                </a:solidFill>
                <a:latin typeface="Pretendard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참가자(명)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6A14-4F27-B39D-57FEB8C59AD6}"/>
              </c:ext>
            </c:extLst>
          </c:dPt>
          <c:dPt>
            <c:idx val="1"/>
            <c:invertIfNegative val="0"/>
            <c:bubble3D val="0"/>
            <c:spPr>
              <a:solidFill>
                <a:srgbClr val="05966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A14-4F27-B39D-57FEB8C59AD6}"/>
              </c:ext>
            </c:extLst>
          </c:dPt>
          <c:dPt>
            <c:idx val="2"/>
            <c:invertIfNegative val="0"/>
            <c:bubble3D val="0"/>
            <c:spPr>
              <a:solidFill>
                <a:srgbClr val="0891B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6A14-4F27-B39D-57FEB8C59AD6}"/>
              </c:ext>
            </c:extLst>
          </c:dPt>
          <c:dPt>
            <c:idx val="3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6A14-4F27-B39D-57FEB8C59AD6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E293B"/>
                    </a:solidFill>
                    <a:latin typeface="Pretendard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파일럿 2026</c:v>
                </c:pt>
                <c:pt idx="1">
                  <c:v>확장1 2027상</c:v>
                </c:pt>
                <c:pt idx="2">
                  <c:v>확장2 2027하</c:v>
                </c:pt>
                <c:pt idx="3">
                  <c:v>안정화 2028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</c:v>
                </c:pt>
                <c:pt idx="1">
                  <c:v>20</c:v>
                </c:pt>
                <c:pt idx="2">
                  <c:v>50</c:v>
                </c:pt>
                <c:pt idx="3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6A14-4F27-B39D-57FEB8C59AD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475569"/>
                </a:solidFill>
                <a:latin typeface="Pretendard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4748B"/>
                </a:solidFill>
                <a:latin typeface="Pretendard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비용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AFF4-4E1C-A924-BB3DF2AE0030}"/>
              </c:ext>
            </c:extLst>
          </c:dPt>
          <c:dPt>
            <c:idx val="1"/>
            <c:bubble3D val="0"/>
            <c:spPr>
              <a:solidFill>
                <a:srgbClr val="05966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FF4-4E1C-A924-BB3DF2AE0030}"/>
              </c:ext>
            </c:extLst>
          </c:dPt>
          <c:dPt>
            <c:idx val="2"/>
            <c:bubble3D val="0"/>
            <c:spPr>
              <a:solidFill>
                <a:srgbClr val="0891B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AFF4-4E1C-A924-BB3DF2AE0030}"/>
              </c:ext>
            </c:extLst>
          </c:dPt>
          <c:dPt>
            <c:idx val="3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AFF4-4E1C-A924-BB3DF2AE0030}"/>
              </c:ext>
            </c:extLst>
          </c:dPt>
          <c:dPt>
            <c:idx val="4"/>
            <c:bubble3D val="0"/>
            <c:spPr>
              <a:solidFill>
                <a:srgbClr val="64748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AFF4-4E1C-A924-BB3DF2AE0030}"/>
              </c:ext>
            </c:extLst>
          </c:dPt>
          <c:dPt>
            <c:idx val="5"/>
            <c:bubble3D val="0"/>
            <c:spPr>
              <a:solidFill>
                <a:srgbClr val="B4530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AFF4-4E1C-A924-BB3DF2AE0030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334155"/>
                      </a:solidFill>
                      <a:latin typeface="Pretendard"/>
                    </a:defRPr>
                  </a:pPr>
                  <a:endParaRPr lang="ko-K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AFF4-4E1C-A924-BB3DF2AE0030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334155"/>
                      </a:solidFill>
                      <a:latin typeface="Pretendard"/>
                    </a:defRPr>
                  </a:pPr>
                  <a:endParaRPr lang="ko-K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AFF4-4E1C-A924-BB3DF2AE0030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334155"/>
                      </a:solidFill>
                      <a:latin typeface="Pretendard"/>
                    </a:defRPr>
                  </a:pPr>
                  <a:endParaRPr lang="ko-K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AFF4-4E1C-A924-BB3DF2AE0030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334155"/>
                      </a:solidFill>
                      <a:latin typeface="Pretendard"/>
                    </a:defRPr>
                  </a:pPr>
                  <a:endParaRPr lang="ko-K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AFF4-4E1C-A924-BB3DF2AE0030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334155"/>
                      </a:solidFill>
                      <a:latin typeface="Pretendard"/>
                    </a:defRPr>
                  </a:pPr>
                  <a:endParaRPr lang="ko-K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AFF4-4E1C-A924-BB3DF2AE0030}"/>
                </c:ext>
              </c:extLst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334155"/>
                      </a:solidFill>
                      <a:latin typeface="Pretendard"/>
                    </a:defRPr>
                  </a:pPr>
                  <a:endParaRPr lang="ko-K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AFF4-4E1C-A924-BB3DF2AE0030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Pretendard"/>
                  </a:defRPr>
                </a:pPr>
                <a:endParaRPr lang="ko-KR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Sheet1!$A$2:$A$7</c:f>
              <c:strCache>
                <c:ptCount val="6"/>
                <c:pt idx="0">
                  <c:v>시스템 개발</c:v>
                </c:pt>
                <c:pt idx="1">
                  <c:v>앱 고도화</c:v>
                </c:pt>
                <c:pt idx="2">
                  <c:v>이벤트 운영</c:v>
                </c:pt>
                <c:pt idx="3">
                  <c:v>ESG 캠페인</c:v>
                </c:pt>
                <c:pt idx="4">
                  <c:v>마케팅/PR</c:v>
                </c:pt>
                <c:pt idx="5">
                  <c:v>SSP 원가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</c:v>
                </c:pt>
                <c:pt idx="1">
                  <c:v>1.5</c:v>
                </c:pt>
                <c:pt idx="2">
                  <c:v>1</c:v>
                </c:pt>
                <c:pt idx="3">
                  <c:v>0.5</c:v>
                </c:pt>
                <c:pt idx="4">
                  <c:v>1</c:v>
                </c:pt>
                <c:pt idx="5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AFF4-4E1C-A924-BB3DF2AE003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00">
              <a:solidFill>
                <a:srgbClr val="475569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수익(억원)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Pretendard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스폰서십</c:v>
                </c:pt>
                <c:pt idx="1">
                  <c:v>프리미엄 구독</c:v>
                </c:pt>
                <c:pt idx="2">
                  <c:v>커머스</c:v>
                </c:pt>
                <c:pt idx="3">
                  <c:v>데이터 사업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1.5</c:v>
                </c:pt>
                <c:pt idx="1">
                  <c:v>0.5</c:v>
                </c:pt>
                <c:pt idx="2">
                  <c:v>0.8</c:v>
                </c:pt>
                <c:pt idx="3">
                  <c:v>0.3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D0A-46D5-B750-6A50CB43C86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475569"/>
                </a:solidFill>
                <a:latin typeface="Pretendard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Pretendard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07277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CCD5F7-63F7-1AFE-DDBD-719D706B24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F9D181-1118-6E9A-EA85-9791A61398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5C49F8-0D7E-B3CE-096F-D54CC189D7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F82CD8-DF20-7CF3-00EB-FCEB1922F9C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80427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Pretendard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Pretendard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Pretendard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Pretendard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Pretendard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Pretendard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Pretendard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Pretendard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Pretendard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chart" Target="../charts/chart3.xml"/><Relationship Id="rId3" Type="http://schemas.openxmlformats.org/officeDocument/2006/relationships/image" Target="../media/image4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5.pn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4.xml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8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19.png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4206240"/>
            <a:ext cx="9144000" cy="937260"/>
          </a:xfrm>
          <a:prstGeom prst="rect">
            <a:avLst/>
          </a:prstGeom>
          <a:solidFill>
            <a:srgbClr val="134E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BUSINESS PROPOSAL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한국관광공사 x 라이트브라더스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173736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사업제안서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731520" y="2743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5EEA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"대한민국 자전거 파크런"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3200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디지털 스탬프 투어  x  구간 랭킹  x  ESG 캠페인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4343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EEA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제안사: </a:t>
            </a:r>
            <a:r>
              <a:rPr lang="en-US" sz="1200" b="1" dirty="0" err="1">
                <a:solidFill>
                  <a:srgbClr val="5EEA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라이트브라더스</a:t>
            </a:r>
            <a:r>
              <a:rPr lang="ko-KR" altLang="en-US" sz="1200" b="1" dirty="0">
                <a:solidFill>
                  <a:srgbClr val="5EEA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㈜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4663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수신: 한국관광공사 </a:t>
            </a:r>
            <a:r>
              <a:rPr lang="en-US" sz="1000" dirty="0" err="1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지역콘텐츠육성팀</a:t>
            </a:r>
            <a:r>
              <a:rPr lang="en-US" sz="10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|  2026.03.19</a:t>
            </a:r>
            <a:endParaRPr lang="en-US" sz="10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1463040"/>
            <a:ext cx="1097280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1828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달릴수록 포인트가 쌓이고, 지역 관광이 활성화되고, 탄소가 줄어드는 선순환 플랫폼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713232"/>
            <a:ext cx="109728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005840"/>
            <a:ext cx="2606040" cy="1097280"/>
          </a:xfrm>
          <a:prstGeom prst="rect">
            <a:avLst/>
          </a:prstGeom>
          <a:solidFill>
            <a:srgbClr val="CCFBF1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09728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43000" y="10515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대표코스 60선 +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순환코스 스탬프 투어</a:t>
            </a:r>
            <a:endParaRPr lang="en-US" sz="9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4480" y="1627632"/>
            <a:ext cx="228600" cy="2286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48640" y="2286000"/>
            <a:ext cx="260604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7"/>
          <p:cNvSpPr/>
          <p:nvPr/>
        </p:nvSpPr>
        <p:spPr>
          <a:xfrm>
            <a:off x="548640" y="2286000"/>
            <a:ext cx="260604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8"/>
          <p:cNvSpPr/>
          <p:nvPr/>
        </p:nvSpPr>
        <p:spPr>
          <a:xfrm>
            <a:off x="731520" y="242316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디지털 스탬프 투어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731520" y="28803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대표코스 60선 GPS 자동 인증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 구간 랭킹 시스템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3337560" y="1005840"/>
            <a:ext cx="2606040" cy="1097280"/>
          </a:xfrm>
          <a:prstGeom prst="rect">
            <a:avLst/>
          </a:prstGeom>
          <a:solidFill>
            <a:srgbClr val="CCFBF1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4720" y="109728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931920" y="10515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전국 순환코스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완주 캠페인</a:t>
            </a:r>
            <a:endParaRPr lang="en-US" sz="90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400" y="1627632"/>
            <a:ext cx="228600" cy="228600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3337560" y="2286000"/>
            <a:ext cx="260604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3"/>
          <p:cNvSpPr/>
          <p:nvPr/>
        </p:nvSpPr>
        <p:spPr>
          <a:xfrm>
            <a:off x="3337560" y="2286000"/>
            <a:ext cx="260604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4"/>
          <p:cNvSpPr/>
          <p:nvPr/>
        </p:nvSpPr>
        <p:spPr>
          <a:xfrm>
            <a:off x="3520440" y="242316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자전거 파크런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3520440" y="28803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매주 정기 라이딩 이벤트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 완주 챌린지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6126480" y="1005840"/>
            <a:ext cx="2606040" cy="1097280"/>
          </a:xfrm>
          <a:prstGeom prst="rect">
            <a:avLst/>
          </a:prstGeom>
          <a:solidFill>
            <a:srgbClr val="CCFBF1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3640" y="1097280"/>
            <a:ext cx="365760" cy="36576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720840" y="10515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ESG 협업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친환경 캠페인</a:t>
            </a:r>
            <a:endParaRPr lang="en-US" sz="900" dirty="0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0" y="1627632"/>
            <a:ext cx="228600" cy="228600"/>
          </a:xfrm>
          <a:prstGeom prst="rect">
            <a:avLst/>
          </a:prstGeom>
        </p:spPr>
      </p:pic>
      <p:sp>
        <p:nvSpPr>
          <p:cNvPr id="26" name="Shape 18"/>
          <p:cNvSpPr/>
          <p:nvPr/>
        </p:nvSpPr>
        <p:spPr>
          <a:xfrm>
            <a:off x="6126480" y="2286000"/>
            <a:ext cx="260604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19"/>
          <p:cNvSpPr/>
          <p:nvPr/>
        </p:nvSpPr>
        <p:spPr>
          <a:xfrm>
            <a:off x="6126480" y="2286000"/>
            <a:ext cx="260604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0"/>
          <p:cNvSpPr/>
          <p:nvPr/>
        </p:nvSpPr>
        <p:spPr>
          <a:xfrm>
            <a:off x="6309360" y="242316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ESG 탄소저감 캠페인</a:t>
            </a:r>
            <a:endParaRPr lang="en-US" sz="1400" dirty="0"/>
          </a:p>
        </p:txBody>
      </p:sp>
      <p:sp>
        <p:nvSpPr>
          <p:cNvPr id="29" name="Text 21"/>
          <p:cNvSpPr/>
          <p:nvPr/>
        </p:nvSpPr>
        <p:spPr>
          <a:xfrm>
            <a:off x="6309360" y="28803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SSP 탄소저감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마일리지 보상 체계</a:t>
            </a:r>
            <a:endParaRPr lang="en-US" sz="1100" dirty="0"/>
          </a:p>
        </p:txBody>
      </p:sp>
      <p:sp>
        <p:nvSpPr>
          <p:cNvPr id="30" name="Shape 22"/>
          <p:cNvSpPr/>
          <p:nvPr/>
        </p:nvSpPr>
        <p:spPr>
          <a:xfrm>
            <a:off x="548640" y="4206240"/>
            <a:ext cx="8046720" cy="594360"/>
          </a:xfrm>
          <a:prstGeom prst="rect">
            <a:avLst/>
          </a:prstGeom>
          <a:solidFill>
            <a:srgbClr val="134E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3"/>
          <p:cNvSpPr/>
          <p:nvPr/>
        </p:nvSpPr>
        <p:spPr>
          <a:xfrm>
            <a:off x="731520" y="425196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EEA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관광공사의 3가지 요청사항을 SSP 시스템 + 파크런 모델로 통합 해결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1828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세계적 수준의 자전거 인프라를 보유하고 있으나, 디지털 전환이 미흡합니다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713232"/>
            <a:ext cx="109728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005840"/>
            <a:ext cx="192024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548640" y="1005840"/>
            <a:ext cx="192024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48640" y="11430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D948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27,754km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48640" y="16916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자전거도로 총연장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0116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전년 대비 +3.3%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651760" y="1005840"/>
            <a:ext cx="192024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2651760" y="1005840"/>
            <a:ext cx="192024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2651760" y="11430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D948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2,237km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651760" y="16916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국토종주 자전거길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651760" y="20116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12개 노선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54880" y="1005840"/>
            <a:ext cx="192024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4754880" y="1005840"/>
            <a:ext cx="192024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4754880" y="11430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D948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506만명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4754880" y="16916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따릉이 누적 회원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54880" y="20116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서울시 공공자전거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858000" y="1005840"/>
            <a:ext cx="192024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6858000" y="1005840"/>
            <a:ext cx="192024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6858000" y="11430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D948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60개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6858000" y="16916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대표코스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858000" y="20116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2024.12 문체부 발표</a:t>
            </a:r>
            <a:endParaRPr lang="en-US" sz="900" dirty="0"/>
          </a:p>
        </p:txBody>
      </p:sp>
      <p:graphicFrame>
        <p:nvGraphicFramePr>
          <p:cNvPr id="26" name="Chart 0"/>
          <p:cNvGraphicFramePr/>
          <p:nvPr/>
        </p:nvGraphicFramePr>
        <p:xfrm>
          <a:off x="548640" y="2743200"/>
          <a:ext cx="4114800" cy="2103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7" name="Shape 24"/>
          <p:cNvSpPr/>
          <p:nvPr/>
        </p:nvSpPr>
        <p:spPr>
          <a:xfrm>
            <a:off x="5029200" y="2743200"/>
            <a:ext cx="3657600" cy="2103120"/>
          </a:xfrm>
          <a:prstGeom prst="rect">
            <a:avLst/>
          </a:prstGeom>
          <a:solidFill>
            <a:srgbClr val="CCFBF1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5"/>
          <p:cNvSpPr/>
          <p:nvPr/>
        </p:nvSpPr>
        <p:spPr>
          <a:xfrm>
            <a:off x="5212080" y="28346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디지털 전환 기회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5212080" y="324612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인프라는 갖추었으나 디지털 서비스 부재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종이 스탬프 기반 인증 → MZ세대 참여 저조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라이딩 데이터 축적 불가 → 정책 수립 한계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탄소저감 효과 미측정 → ESG 활용 불가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4B56CF-D8BA-0F76-4EBE-7C674D3E24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0945745-5CD5-4731-760B-5B1833D4E9B0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CC90FE2-A1E3-0996-2395-2223C6CA945C}"/>
              </a:ext>
            </a:extLst>
          </p:cNvPr>
          <p:cNvSpPr/>
          <p:nvPr/>
        </p:nvSpPr>
        <p:spPr>
          <a:xfrm>
            <a:off x="548640" y="1828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기존 스탬프 투어의 3가지 핵심 문제를 디지털 전환으로 해결합니다</a:t>
            </a:r>
            <a:endParaRPr lang="en-US" sz="1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E3AF7A3-9510-2E54-7477-ACFA6E15179B}"/>
              </a:ext>
            </a:extLst>
          </p:cNvPr>
          <p:cNvSpPr/>
          <p:nvPr/>
        </p:nvSpPr>
        <p:spPr>
          <a:xfrm>
            <a:off x="548640" y="713232"/>
            <a:ext cx="109728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5AA0B7B-46F7-A693-957A-92BC43548DC8}"/>
              </a:ext>
            </a:extLst>
          </p:cNvPr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E603A299-32DF-6B43-67B6-0B30CB79E9DF}"/>
              </a:ext>
            </a:extLst>
          </p:cNvPr>
          <p:cNvSpPr/>
          <p:nvPr/>
        </p:nvSpPr>
        <p:spPr>
          <a:xfrm>
            <a:off x="548640" y="1005840"/>
            <a:ext cx="3840480" cy="41148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D6390329-0760-828C-BD38-AC6B9EEC7037}"/>
              </a:ext>
            </a:extLst>
          </p:cNvPr>
          <p:cNvSpPr/>
          <p:nvPr/>
        </p:nvSpPr>
        <p:spPr>
          <a:xfrm>
            <a:off x="548640" y="10058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AS-IS: 현재 한계</a:t>
            </a:r>
            <a:endParaRPr lang="en-US" sz="1300" dirty="0"/>
          </a:p>
        </p:txBody>
      </p:sp>
      <p:sp>
        <p:nvSpPr>
          <p:cNvPr id="24" name="Shape 18">
            <a:extLst>
              <a:ext uri="{FF2B5EF4-FFF2-40B4-BE49-F238E27FC236}">
                <a16:creationId xmlns:a16="http://schemas.microsoft.com/office/drawing/2014/main" id="{7BCED365-1BA1-9D14-DAB9-2154EB2BACF4}"/>
              </a:ext>
            </a:extLst>
          </p:cNvPr>
          <p:cNvSpPr/>
          <p:nvPr/>
        </p:nvSpPr>
        <p:spPr>
          <a:xfrm>
            <a:off x="4846320" y="1005840"/>
            <a:ext cx="3840480" cy="41148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19">
            <a:extLst>
              <a:ext uri="{FF2B5EF4-FFF2-40B4-BE49-F238E27FC236}">
                <a16:creationId xmlns:a16="http://schemas.microsoft.com/office/drawing/2014/main" id="{21DD2D20-7146-0904-8750-DD481FFC808B}"/>
              </a:ext>
            </a:extLst>
          </p:cNvPr>
          <p:cNvSpPr/>
          <p:nvPr/>
        </p:nvSpPr>
        <p:spPr>
          <a:xfrm>
            <a:off x="4846320" y="10058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TO-BE: 디지털 전환 솔루션</a:t>
            </a:r>
            <a:endParaRPr lang="en-US" sz="13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385F909D-F0C8-3A4B-B455-9BBCEAA64731}"/>
              </a:ext>
            </a:extLst>
          </p:cNvPr>
          <p:cNvSpPr/>
          <p:nvPr/>
        </p:nvSpPr>
        <p:spPr>
          <a:xfrm>
            <a:off x="548640" y="1507436"/>
            <a:ext cx="3840480" cy="914399"/>
          </a:xfrm>
          <a:prstGeom prst="rect">
            <a:avLst/>
          </a:prstGeom>
          <a:solidFill>
            <a:srgbClr val="FEF2F2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B8CA8DBA-F439-DD24-A7C3-767835A6818E}"/>
              </a:ext>
            </a:extLst>
          </p:cNvPr>
          <p:cNvSpPr/>
          <p:nvPr/>
        </p:nvSpPr>
        <p:spPr>
          <a:xfrm>
            <a:off x="548640" y="1507436"/>
            <a:ext cx="54864" cy="914399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91FD2070-1751-4F94-644E-0EA310FC0F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736036"/>
            <a:ext cx="320040" cy="320039"/>
          </a:xfrm>
          <a:prstGeom prst="rect">
            <a:avLst/>
          </a:prstGeom>
        </p:spPr>
      </p:pic>
      <p:sp>
        <p:nvSpPr>
          <p:cNvPr id="11" name="Text 8">
            <a:extLst>
              <a:ext uri="{FF2B5EF4-FFF2-40B4-BE49-F238E27FC236}">
                <a16:creationId xmlns:a16="http://schemas.microsoft.com/office/drawing/2014/main" id="{2236ACDC-1C81-BB0E-FAD9-F2D89DCC1FFB}"/>
              </a:ext>
            </a:extLst>
          </p:cNvPr>
          <p:cNvSpPr/>
          <p:nvPr/>
        </p:nvSpPr>
        <p:spPr>
          <a:xfrm>
            <a:off x="1234440" y="1598876"/>
            <a:ext cx="2926080" cy="320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물리적 스탬프</a:t>
            </a:r>
            <a:endParaRPr lang="en-US" sz="120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0DFBF0E8-A3CC-B35C-0546-3CE702B7DFE5}"/>
              </a:ext>
            </a:extLst>
          </p:cNvPr>
          <p:cNvSpPr/>
          <p:nvPr/>
        </p:nvSpPr>
        <p:spPr>
          <a:xfrm>
            <a:off x="1234440" y="1918916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인증센터 운영 비용, 위치 제약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 인력 상시 필요</a:t>
            </a:r>
            <a:endParaRPr lang="en-US" sz="900" dirty="0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1E6C48CB-71D6-5D77-F347-F41D3D243BD7}"/>
              </a:ext>
            </a:extLst>
          </p:cNvPr>
          <p:cNvSpPr/>
          <p:nvPr/>
        </p:nvSpPr>
        <p:spPr>
          <a:xfrm>
            <a:off x="548640" y="2558996"/>
            <a:ext cx="3840480" cy="914399"/>
          </a:xfrm>
          <a:prstGeom prst="rect">
            <a:avLst/>
          </a:prstGeom>
          <a:solidFill>
            <a:srgbClr val="FEF2F2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86BA5DF0-E362-2C6A-B21D-018A4B46D542}"/>
              </a:ext>
            </a:extLst>
          </p:cNvPr>
          <p:cNvSpPr/>
          <p:nvPr/>
        </p:nvSpPr>
        <p:spPr>
          <a:xfrm>
            <a:off x="548640" y="2558996"/>
            <a:ext cx="54864" cy="914399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5" name="Image 1" descr="preencoded.png">
            <a:extLst>
              <a:ext uri="{FF2B5EF4-FFF2-40B4-BE49-F238E27FC236}">
                <a16:creationId xmlns:a16="http://schemas.microsoft.com/office/drawing/2014/main" id="{F3EB0ABA-0365-876A-67D2-4263F5FA1A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787595"/>
            <a:ext cx="320040" cy="320039"/>
          </a:xfrm>
          <a:prstGeom prst="rect">
            <a:avLst/>
          </a:prstGeom>
        </p:spPr>
      </p:pic>
      <p:sp>
        <p:nvSpPr>
          <p:cNvPr id="16" name="Text 12">
            <a:extLst>
              <a:ext uri="{FF2B5EF4-FFF2-40B4-BE49-F238E27FC236}">
                <a16:creationId xmlns:a16="http://schemas.microsoft.com/office/drawing/2014/main" id="{8539F8B4-C1EA-C854-BB5B-C15EF22A3667}"/>
              </a:ext>
            </a:extLst>
          </p:cNvPr>
          <p:cNvSpPr/>
          <p:nvPr/>
        </p:nvSpPr>
        <p:spPr>
          <a:xfrm>
            <a:off x="1234440" y="2650436"/>
            <a:ext cx="2926080" cy="320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종이 스탬프북</a:t>
            </a:r>
            <a:endParaRPr lang="en-US" sz="1200" dirty="0"/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E5F79923-24BE-BA2F-998C-BD9817ECA1A3}"/>
              </a:ext>
            </a:extLst>
          </p:cNvPr>
          <p:cNvSpPr/>
          <p:nvPr/>
        </p:nvSpPr>
        <p:spPr>
          <a:xfrm>
            <a:off x="1234440" y="2970475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분실 위험, 데이터 축적 불가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MZ세대 참여 저조</a:t>
            </a:r>
            <a:endParaRPr lang="en-US" sz="900" dirty="0"/>
          </a:p>
        </p:txBody>
      </p:sp>
      <p:pic>
        <p:nvPicPr>
          <p:cNvPr id="23" name="Image 3" descr="preencoded.png">
            <a:extLst>
              <a:ext uri="{FF2B5EF4-FFF2-40B4-BE49-F238E27FC236}">
                <a16:creationId xmlns:a16="http://schemas.microsoft.com/office/drawing/2014/main" id="{98FC4CFD-6E0D-D5D5-BC07-4DACACC60A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4840" y="2467555"/>
            <a:ext cx="320040" cy="320039"/>
          </a:xfrm>
          <a:prstGeom prst="rect">
            <a:avLst/>
          </a:prstGeom>
        </p:spPr>
      </p:pic>
      <p:sp>
        <p:nvSpPr>
          <p:cNvPr id="26" name="Shape 20">
            <a:extLst>
              <a:ext uri="{FF2B5EF4-FFF2-40B4-BE49-F238E27FC236}">
                <a16:creationId xmlns:a16="http://schemas.microsoft.com/office/drawing/2014/main" id="{3C8733E4-0ED0-E64E-9EE9-4840865A45AF}"/>
              </a:ext>
            </a:extLst>
          </p:cNvPr>
          <p:cNvSpPr/>
          <p:nvPr/>
        </p:nvSpPr>
        <p:spPr>
          <a:xfrm>
            <a:off x="4846320" y="1507436"/>
            <a:ext cx="3840480" cy="914399"/>
          </a:xfrm>
          <a:prstGeom prst="rect">
            <a:avLst/>
          </a:prstGeom>
          <a:solidFill>
            <a:srgbClr val="CCFBF1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1">
            <a:extLst>
              <a:ext uri="{FF2B5EF4-FFF2-40B4-BE49-F238E27FC236}">
                <a16:creationId xmlns:a16="http://schemas.microsoft.com/office/drawing/2014/main" id="{DC263DC7-65B9-D1E4-2E89-A003FD6FF5D5}"/>
              </a:ext>
            </a:extLst>
          </p:cNvPr>
          <p:cNvSpPr/>
          <p:nvPr/>
        </p:nvSpPr>
        <p:spPr>
          <a:xfrm>
            <a:off x="4846320" y="1507436"/>
            <a:ext cx="54864" cy="914399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8" name="Image 4" descr="preencoded.png">
            <a:extLst>
              <a:ext uri="{FF2B5EF4-FFF2-40B4-BE49-F238E27FC236}">
                <a16:creationId xmlns:a16="http://schemas.microsoft.com/office/drawing/2014/main" id="{7D899C41-4BA7-1DB3-979C-B1B8EE7CAC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4920" y="1736036"/>
            <a:ext cx="320040" cy="320039"/>
          </a:xfrm>
          <a:prstGeom prst="rect">
            <a:avLst/>
          </a:prstGeom>
        </p:spPr>
      </p:pic>
      <p:sp>
        <p:nvSpPr>
          <p:cNvPr id="29" name="Text 22">
            <a:extLst>
              <a:ext uri="{FF2B5EF4-FFF2-40B4-BE49-F238E27FC236}">
                <a16:creationId xmlns:a16="http://schemas.microsoft.com/office/drawing/2014/main" id="{62D2F830-E015-BEB7-3C14-02D080FA43B2}"/>
              </a:ext>
            </a:extLst>
          </p:cNvPr>
          <p:cNvSpPr/>
          <p:nvPr/>
        </p:nvSpPr>
        <p:spPr>
          <a:xfrm>
            <a:off x="5532120" y="1598876"/>
            <a:ext cx="2926080" cy="320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GPS 자동 인증</a:t>
            </a:r>
            <a:endParaRPr lang="en-US" sz="1200" dirty="0"/>
          </a:p>
        </p:txBody>
      </p:sp>
      <p:sp>
        <p:nvSpPr>
          <p:cNvPr id="30" name="Text 23">
            <a:extLst>
              <a:ext uri="{FF2B5EF4-FFF2-40B4-BE49-F238E27FC236}">
                <a16:creationId xmlns:a16="http://schemas.microsoft.com/office/drawing/2014/main" id="{33125BD3-276E-CBE9-7A8F-10D4B464B046}"/>
              </a:ext>
            </a:extLst>
          </p:cNvPr>
          <p:cNvSpPr/>
          <p:nvPr/>
        </p:nvSpPr>
        <p:spPr>
          <a:xfrm>
            <a:off x="5532120" y="1918915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스마트폰 GPS 기반 자동 인증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 비용 제로, 24시간 가동</a:t>
            </a:r>
            <a:endParaRPr lang="en-US" sz="900" dirty="0"/>
          </a:p>
        </p:txBody>
      </p:sp>
      <p:sp>
        <p:nvSpPr>
          <p:cNvPr id="31" name="Shape 24">
            <a:extLst>
              <a:ext uri="{FF2B5EF4-FFF2-40B4-BE49-F238E27FC236}">
                <a16:creationId xmlns:a16="http://schemas.microsoft.com/office/drawing/2014/main" id="{F30A6577-8737-8076-3D56-0A90522613E5}"/>
              </a:ext>
            </a:extLst>
          </p:cNvPr>
          <p:cNvSpPr/>
          <p:nvPr/>
        </p:nvSpPr>
        <p:spPr>
          <a:xfrm>
            <a:off x="4846320" y="2558995"/>
            <a:ext cx="3840480" cy="914399"/>
          </a:xfrm>
          <a:prstGeom prst="rect">
            <a:avLst/>
          </a:prstGeom>
          <a:solidFill>
            <a:srgbClr val="CCFBF1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25">
            <a:extLst>
              <a:ext uri="{FF2B5EF4-FFF2-40B4-BE49-F238E27FC236}">
                <a16:creationId xmlns:a16="http://schemas.microsoft.com/office/drawing/2014/main" id="{9380802D-82DD-5DDD-CE92-8CF50074C4ED}"/>
              </a:ext>
            </a:extLst>
          </p:cNvPr>
          <p:cNvSpPr/>
          <p:nvPr/>
        </p:nvSpPr>
        <p:spPr>
          <a:xfrm>
            <a:off x="4846320" y="2558995"/>
            <a:ext cx="54864" cy="9144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3" name="Image 5" descr="preencoded.png">
            <a:extLst>
              <a:ext uri="{FF2B5EF4-FFF2-40B4-BE49-F238E27FC236}">
                <a16:creationId xmlns:a16="http://schemas.microsoft.com/office/drawing/2014/main" id="{E9088297-30E6-7B29-B3FC-236919D6EFD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4920" y="2787594"/>
            <a:ext cx="320040" cy="320039"/>
          </a:xfrm>
          <a:prstGeom prst="rect">
            <a:avLst/>
          </a:prstGeom>
        </p:spPr>
      </p:pic>
      <p:sp>
        <p:nvSpPr>
          <p:cNvPr id="34" name="Text 26">
            <a:extLst>
              <a:ext uri="{FF2B5EF4-FFF2-40B4-BE49-F238E27FC236}">
                <a16:creationId xmlns:a16="http://schemas.microsoft.com/office/drawing/2014/main" id="{0A4D93F6-DA3E-FBB1-2CCA-E6D36D653652}"/>
              </a:ext>
            </a:extLst>
          </p:cNvPr>
          <p:cNvSpPr/>
          <p:nvPr/>
        </p:nvSpPr>
        <p:spPr>
          <a:xfrm>
            <a:off x="5532120" y="2650435"/>
            <a:ext cx="2926080" cy="320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디지털 배지 시스템</a:t>
            </a:r>
            <a:endParaRPr lang="en-US" sz="1200" dirty="0"/>
          </a:p>
        </p:txBody>
      </p:sp>
      <p:sp>
        <p:nvSpPr>
          <p:cNvPr id="35" name="Text 27">
            <a:extLst>
              <a:ext uri="{FF2B5EF4-FFF2-40B4-BE49-F238E27FC236}">
                <a16:creationId xmlns:a16="http://schemas.microsoft.com/office/drawing/2014/main" id="{32F5F094-0ED8-B1CC-D5ED-8FD308C19114}"/>
              </a:ext>
            </a:extLst>
          </p:cNvPr>
          <p:cNvSpPr/>
          <p:nvPr/>
        </p:nvSpPr>
        <p:spPr>
          <a:xfrm>
            <a:off x="5532120" y="2970476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앱 내 배지 수집 + 랭킹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게이미피케이션으로 MZ 참여 극대화</a:t>
            </a:r>
            <a:endParaRPr lang="en-US" sz="900" dirty="0"/>
          </a:p>
        </p:txBody>
      </p: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2E9A5FBB-43D1-024E-E426-49277F8CA610}"/>
              </a:ext>
            </a:extLst>
          </p:cNvPr>
          <p:cNvGrpSpPr/>
          <p:nvPr/>
        </p:nvGrpSpPr>
        <p:grpSpPr>
          <a:xfrm>
            <a:off x="548640" y="3610553"/>
            <a:ext cx="8138160" cy="1127099"/>
            <a:chOff x="548640" y="3703318"/>
            <a:chExt cx="8138160" cy="914402"/>
          </a:xfrm>
        </p:grpSpPr>
        <p:sp>
          <p:nvSpPr>
            <p:cNvPr id="18" name="Shape 14">
              <a:extLst>
                <a:ext uri="{FF2B5EF4-FFF2-40B4-BE49-F238E27FC236}">
                  <a16:creationId xmlns:a16="http://schemas.microsoft.com/office/drawing/2014/main" id="{BC25A677-0D78-CA1F-A5D4-D7E19923827E}"/>
                </a:ext>
              </a:extLst>
            </p:cNvPr>
            <p:cNvSpPr/>
            <p:nvPr/>
          </p:nvSpPr>
          <p:spPr>
            <a:xfrm>
              <a:off x="548640" y="3703318"/>
              <a:ext cx="3840480" cy="914399"/>
            </a:xfrm>
            <a:prstGeom prst="rect">
              <a:avLst/>
            </a:prstGeom>
            <a:solidFill>
              <a:srgbClr val="FEF2F2"/>
            </a:solidFill>
            <a:ln/>
            <a:effectLst>
              <a:outerShdw blurRad="50800" dist="254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9" name="Shape 15">
              <a:extLst>
                <a:ext uri="{FF2B5EF4-FFF2-40B4-BE49-F238E27FC236}">
                  <a16:creationId xmlns:a16="http://schemas.microsoft.com/office/drawing/2014/main" id="{2F704996-923B-9483-1F6F-F91587EC0500}"/>
                </a:ext>
              </a:extLst>
            </p:cNvPr>
            <p:cNvSpPr/>
            <p:nvPr/>
          </p:nvSpPr>
          <p:spPr>
            <a:xfrm>
              <a:off x="548640" y="3703318"/>
              <a:ext cx="54864" cy="914399"/>
            </a:xfrm>
            <a:prstGeom prst="rect">
              <a:avLst/>
            </a:prstGeom>
            <a:solidFill>
              <a:srgbClr val="DC2626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20" name="Image 2" descr="preencoded.png">
              <a:extLst>
                <a:ext uri="{FF2B5EF4-FFF2-40B4-BE49-F238E27FC236}">
                  <a16:creationId xmlns:a16="http://schemas.microsoft.com/office/drawing/2014/main" id="{575EF1FF-1873-7C16-96FD-DC3A578E062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77240" y="3931917"/>
              <a:ext cx="320040" cy="320039"/>
            </a:xfrm>
            <a:prstGeom prst="rect">
              <a:avLst/>
            </a:prstGeom>
          </p:spPr>
        </p:pic>
        <p:sp>
          <p:nvSpPr>
            <p:cNvPr id="21" name="Text 16">
              <a:extLst>
                <a:ext uri="{FF2B5EF4-FFF2-40B4-BE49-F238E27FC236}">
                  <a16:creationId xmlns:a16="http://schemas.microsoft.com/office/drawing/2014/main" id="{8477CA72-5EDF-FAB4-CDA5-94169E021C91}"/>
                </a:ext>
              </a:extLst>
            </p:cNvPr>
            <p:cNvSpPr/>
            <p:nvPr/>
          </p:nvSpPr>
          <p:spPr>
            <a:xfrm>
              <a:off x="1234440" y="3794758"/>
              <a:ext cx="2926080" cy="3200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 err="1">
                  <a:solidFill>
                    <a:srgbClr val="1E293B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데이터</a:t>
              </a:r>
              <a:r>
                <a:rPr lang="en-US" sz="1200" b="1" dirty="0">
                  <a:solidFill>
                    <a:srgbClr val="1E293B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 </a:t>
              </a:r>
              <a:r>
                <a:rPr lang="ko-KR" altLang="en-US" sz="1200" b="1" dirty="0">
                  <a:solidFill>
                    <a:srgbClr val="1E293B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관리</a:t>
              </a:r>
              <a:endParaRPr lang="en-US" sz="1200" dirty="0"/>
            </a:p>
          </p:txBody>
        </p:sp>
        <p:sp>
          <p:nvSpPr>
            <p:cNvPr id="22" name="Text 17">
              <a:extLst>
                <a:ext uri="{FF2B5EF4-FFF2-40B4-BE49-F238E27FC236}">
                  <a16:creationId xmlns:a16="http://schemas.microsoft.com/office/drawing/2014/main" id="{866CAD5D-7D57-EC28-1873-F4693E7C756F}"/>
                </a:ext>
              </a:extLst>
            </p:cNvPr>
            <p:cNvSpPr/>
            <p:nvPr/>
          </p:nvSpPr>
          <p:spPr>
            <a:xfrm>
              <a:off x="1234440" y="4114798"/>
              <a:ext cx="292608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475569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참가자 추적 불가</a:t>
              </a:r>
              <a:endParaRPr lang="en-US" sz="900" dirty="0"/>
            </a:p>
            <a:p>
              <a:pPr marL="0" indent="0">
                <a:buNone/>
              </a:pPr>
              <a:r>
                <a:rPr lang="en-US" sz="900" dirty="0">
                  <a:solidFill>
                    <a:srgbClr val="475569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마케팅/정책 </a:t>
              </a:r>
              <a:r>
                <a:rPr lang="en-US" sz="900" dirty="0" err="1">
                  <a:solidFill>
                    <a:srgbClr val="475569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데이터</a:t>
              </a:r>
              <a:r>
                <a:rPr lang="en-US" sz="900" dirty="0">
                  <a:solidFill>
                    <a:srgbClr val="475569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 </a:t>
              </a:r>
              <a:r>
                <a:rPr lang="en-US" sz="900" dirty="0" err="1">
                  <a:solidFill>
                    <a:srgbClr val="475569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부재</a:t>
              </a:r>
              <a:endParaRPr lang="en-US" sz="9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endParaRPr>
            </a:p>
            <a:p>
              <a:pPr marL="0" indent="0">
                <a:buNone/>
              </a:pPr>
              <a:r>
                <a:rPr lang="ko-KR" altLang="en-US" sz="900" dirty="0">
                  <a:solidFill>
                    <a:srgbClr val="475569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운영주체 변동에 따른 운영방법 변동</a:t>
              </a:r>
              <a:r>
                <a:rPr lang="en-US" altLang="ko-KR" sz="900" dirty="0">
                  <a:solidFill>
                    <a:srgbClr val="475569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, </a:t>
              </a:r>
              <a:r>
                <a:rPr lang="ko-KR" altLang="en-US" sz="900" dirty="0">
                  <a:solidFill>
                    <a:srgbClr val="475569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데이터 통합 불가 </a:t>
              </a:r>
              <a:r>
                <a:rPr lang="en-US" altLang="ko-KR" sz="900" dirty="0">
                  <a:solidFill>
                    <a:srgbClr val="475569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 </a:t>
              </a:r>
              <a:endParaRPr lang="en-US" sz="900" dirty="0"/>
            </a:p>
          </p:txBody>
        </p:sp>
        <p:sp>
          <p:nvSpPr>
            <p:cNvPr id="36" name="Shape 28">
              <a:extLst>
                <a:ext uri="{FF2B5EF4-FFF2-40B4-BE49-F238E27FC236}">
                  <a16:creationId xmlns:a16="http://schemas.microsoft.com/office/drawing/2014/main" id="{6EC9E2E4-B3CB-3D40-903C-D86A9BFD42E3}"/>
                </a:ext>
              </a:extLst>
            </p:cNvPr>
            <p:cNvSpPr/>
            <p:nvPr/>
          </p:nvSpPr>
          <p:spPr>
            <a:xfrm>
              <a:off x="4846320" y="3703320"/>
              <a:ext cx="3840480" cy="914400"/>
            </a:xfrm>
            <a:prstGeom prst="rect">
              <a:avLst/>
            </a:prstGeom>
            <a:solidFill>
              <a:srgbClr val="CCFBF1"/>
            </a:solidFill>
            <a:ln/>
            <a:effectLst>
              <a:outerShdw blurRad="50800" dist="254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7" name="Shape 29">
              <a:extLst>
                <a:ext uri="{FF2B5EF4-FFF2-40B4-BE49-F238E27FC236}">
                  <a16:creationId xmlns:a16="http://schemas.microsoft.com/office/drawing/2014/main" id="{05374830-D6B0-E38C-383F-B3FD30AE7D77}"/>
                </a:ext>
              </a:extLst>
            </p:cNvPr>
            <p:cNvSpPr/>
            <p:nvPr/>
          </p:nvSpPr>
          <p:spPr>
            <a:xfrm>
              <a:off x="4846320" y="3703319"/>
              <a:ext cx="54864" cy="914400"/>
            </a:xfrm>
            <a:prstGeom prst="rect">
              <a:avLst/>
            </a:prstGeom>
            <a:solidFill>
              <a:srgbClr val="0D9488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38" name="Image 6" descr="preencoded.png">
              <a:extLst>
                <a:ext uri="{FF2B5EF4-FFF2-40B4-BE49-F238E27FC236}">
                  <a16:creationId xmlns:a16="http://schemas.microsoft.com/office/drawing/2014/main" id="{7B6F2FC7-03E4-3693-F9F0-0CE1F848930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074920" y="3931919"/>
              <a:ext cx="320040" cy="320040"/>
            </a:xfrm>
            <a:prstGeom prst="rect">
              <a:avLst/>
            </a:prstGeom>
          </p:spPr>
        </p:pic>
        <p:sp>
          <p:nvSpPr>
            <p:cNvPr id="39" name="Text 30">
              <a:extLst>
                <a:ext uri="{FF2B5EF4-FFF2-40B4-BE49-F238E27FC236}">
                  <a16:creationId xmlns:a16="http://schemas.microsoft.com/office/drawing/2014/main" id="{467BED0E-B4AD-A367-243F-1743D40DC097}"/>
                </a:ext>
              </a:extLst>
            </p:cNvPr>
            <p:cNvSpPr/>
            <p:nvPr/>
          </p:nvSpPr>
          <p:spPr>
            <a:xfrm>
              <a:off x="5532120" y="3794761"/>
              <a:ext cx="292608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0D9488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실시간 데이터 플랫폼</a:t>
              </a:r>
              <a:endParaRPr lang="en-US" sz="1200" dirty="0"/>
            </a:p>
          </p:txBody>
        </p:sp>
        <p:sp>
          <p:nvSpPr>
            <p:cNvPr id="40" name="Text 31">
              <a:extLst>
                <a:ext uri="{FF2B5EF4-FFF2-40B4-BE49-F238E27FC236}">
                  <a16:creationId xmlns:a16="http://schemas.microsoft.com/office/drawing/2014/main" id="{2EC8488D-3258-0CDB-40CE-CF24260B6CDC}"/>
                </a:ext>
              </a:extLst>
            </p:cNvPr>
            <p:cNvSpPr/>
            <p:nvPr/>
          </p:nvSpPr>
          <p:spPr>
            <a:xfrm>
              <a:off x="5532120" y="4114799"/>
              <a:ext cx="292608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33415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라이딩/관광/탄소 데이터 실시간 축적</a:t>
              </a:r>
              <a:endParaRPr lang="en-US" sz="900" dirty="0"/>
            </a:p>
            <a:p>
              <a:pPr marL="0" indent="0">
                <a:buNone/>
              </a:pPr>
              <a:r>
                <a:rPr lang="en-US" sz="900" dirty="0">
                  <a:solidFill>
                    <a:srgbClr val="33415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ESG 보고서 + 정책 </a:t>
              </a:r>
              <a:r>
                <a:rPr lang="en-US" sz="900" dirty="0" err="1">
                  <a:solidFill>
                    <a:srgbClr val="33415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수립</a:t>
              </a:r>
              <a:r>
                <a:rPr lang="en-US" sz="900" dirty="0">
                  <a:solidFill>
                    <a:srgbClr val="33415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 </a:t>
              </a:r>
              <a:r>
                <a:rPr lang="en-US" sz="900" dirty="0" err="1">
                  <a:solidFill>
                    <a:srgbClr val="33415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활용</a:t>
              </a:r>
              <a:endParaRPr lang="en-US" sz="9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endParaRPr>
            </a:p>
            <a:p>
              <a:pPr marL="0" indent="0">
                <a:buNone/>
              </a:pPr>
              <a:r>
                <a:rPr lang="ko-KR" altLang="en-US" sz="900" dirty="0">
                  <a:solidFill>
                    <a:srgbClr val="33415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운영체계 수립</a:t>
              </a:r>
              <a:r>
                <a:rPr lang="en-US" altLang="ko-KR" sz="900" dirty="0">
                  <a:solidFill>
                    <a:srgbClr val="33415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, </a:t>
              </a:r>
              <a:r>
                <a:rPr lang="ko-KR" altLang="en-US" sz="900" dirty="0">
                  <a:solidFill>
                    <a:srgbClr val="33415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데이터 통합관리</a:t>
              </a:r>
              <a:endParaRPr lang="en-US" altLang="ko-KR" sz="9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endParaRPr>
            </a:p>
            <a:p>
              <a:pPr marL="0" indent="0">
                <a:buNone/>
              </a:pPr>
              <a:r>
                <a:rPr lang="en-US" altLang="ko-KR" sz="900" dirty="0">
                  <a:solidFill>
                    <a:srgbClr val="33415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CRM</a:t>
              </a:r>
              <a:r>
                <a:rPr lang="ko-KR" altLang="en-US" sz="900" dirty="0" err="1">
                  <a:solidFill>
                    <a:srgbClr val="33415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마테팅</a:t>
              </a:r>
              <a:r>
                <a:rPr lang="ko-KR" altLang="en-US" sz="900" dirty="0">
                  <a:solidFill>
                    <a:srgbClr val="33415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 등 참여 독려 가능 </a:t>
              </a:r>
              <a:r>
                <a:rPr lang="en-US" altLang="ko-KR" sz="900" dirty="0">
                  <a:solidFill>
                    <a:srgbClr val="33415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  </a:t>
              </a:r>
              <a:endParaRPr lang="en-US" sz="900" dirty="0"/>
            </a:p>
          </p:txBody>
        </p:sp>
      </p:grpSp>
    </p:spTree>
    <p:extLst>
      <p:ext uri="{BB962C8B-B14F-4D97-AF65-F5344CB8AC3E}">
        <p14:creationId xmlns:p14="http://schemas.microsoft.com/office/powerpoint/2010/main" val="4634455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34E4A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280160"/>
            <a:ext cx="731520" cy="731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210312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제안 1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731520" y="30175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EEA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디지털 스탬프 투어</a:t>
            </a:r>
            <a:endParaRPr lang="en-US" sz="1600" dirty="0"/>
          </a:p>
          <a:p>
            <a:pPr marL="0" indent="0">
              <a:buNone/>
            </a:pPr>
            <a:r>
              <a:rPr lang="en-US" sz="1600" i="1" dirty="0">
                <a:solidFill>
                  <a:srgbClr val="5EEA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대표코스 60선 + 순환코스 연계 스마트 스탬프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1828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GPS 자동 인증 + 구간 랭킹 + SSP 포인트를 하나의 앱에서 통합 제공합니다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713232"/>
            <a:ext cx="109728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960120"/>
            <a:ext cx="265176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548640" y="960120"/>
            <a:ext cx="265176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1508760" y="1188720"/>
            <a:ext cx="640080" cy="640080"/>
          </a:xfrm>
          <a:prstGeom prst="ellipse">
            <a:avLst/>
          </a:prstGeom>
          <a:solidFill>
            <a:srgbClr val="CCFBF1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1280160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1520" y="19659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GPS 자동 인증</a:t>
            </a:r>
            <a:endParaRPr lang="en-US" sz="13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2468880"/>
            <a:ext cx="201168" cy="20116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97280" y="2423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코스 진입 자동감지</a:t>
            </a:r>
            <a:endParaRPr lang="en-US" sz="10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2880360"/>
            <a:ext cx="201168" cy="20116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97280" y="2834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체크포인트 통과 인증</a:t>
            </a:r>
            <a:endParaRPr lang="en-US" sz="10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291840"/>
            <a:ext cx="201168" cy="20116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097280" y="32461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완주 자동 인증</a:t>
            </a:r>
            <a:endParaRPr lang="en-US" sz="10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703320"/>
            <a:ext cx="201168" cy="20116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097280" y="3657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디지털 배지 발급</a:t>
            </a:r>
            <a:endParaRPr lang="en-US" sz="1000" dirty="0"/>
          </a:p>
        </p:txBody>
      </p:sp>
      <p:sp>
        <p:nvSpPr>
          <p:cNvPr id="19" name="Shape 12"/>
          <p:cNvSpPr/>
          <p:nvPr/>
        </p:nvSpPr>
        <p:spPr>
          <a:xfrm>
            <a:off x="3383280" y="960120"/>
            <a:ext cx="265176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3"/>
          <p:cNvSpPr/>
          <p:nvPr/>
        </p:nvSpPr>
        <p:spPr>
          <a:xfrm>
            <a:off x="3383280" y="960120"/>
            <a:ext cx="2651760" cy="54864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4"/>
          <p:cNvSpPr/>
          <p:nvPr/>
        </p:nvSpPr>
        <p:spPr>
          <a:xfrm>
            <a:off x="4343400" y="1188720"/>
            <a:ext cx="640080" cy="640080"/>
          </a:xfrm>
          <a:prstGeom prst="ellipse">
            <a:avLst/>
          </a:prstGeom>
          <a:solidFill>
            <a:srgbClr val="CCFBF1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4840" y="1280160"/>
            <a:ext cx="457200" cy="45720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3566160" y="19659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구간 랭킹 시스템</a:t>
            </a:r>
            <a:endParaRPr lang="en-US" sz="1300" dirty="0"/>
          </a:p>
        </p:txBody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0" y="2468880"/>
            <a:ext cx="201168" cy="201168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3931920" y="2423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코스별 시간 순위</a:t>
            </a:r>
            <a:endParaRPr lang="en-US" sz="1000" dirty="0"/>
          </a:p>
        </p:txBody>
      </p:sp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0" y="2880360"/>
            <a:ext cx="201168" cy="201168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3931920" y="2834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연령대/지역별 랭킹</a:t>
            </a:r>
            <a:endParaRPr lang="en-US" sz="1000" dirty="0"/>
          </a:p>
        </p:txBody>
      </p:sp>
      <p:pic>
        <p:nvPicPr>
          <p:cNvPr id="28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0" y="3291840"/>
            <a:ext cx="201168" cy="201168"/>
          </a:xfrm>
          <a:prstGeom prst="rect">
            <a:avLst/>
          </a:prstGeom>
        </p:spPr>
      </p:pic>
      <p:sp>
        <p:nvSpPr>
          <p:cNvPr id="29" name="Text 18"/>
          <p:cNvSpPr/>
          <p:nvPr/>
        </p:nvSpPr>
        <p:spPr>
          <a:xfrm>
            <a:off x="3931920" y="32461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시즌별 랭킹 집계</a:t>
            </a:r>
            <a:endParaRPr lang="en-US" sz="1000" dirty="0"/>
          </a:p>
        </p:txBody>
      </p:sp>
      <p:pic>
        <p:nvPicPr>
          <p:cNvPr id="30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0" y="3703320"/>
            <a:ext cx="201168" cy="201168"/>
          </a:xfrm>
          <a:prstGeom prst="rect">
            <a:avLst/>
          </a:prstGeom>
        </p:spPr>
      </p:pic>
      <p:sp>
        <p:nvSpPr>
          <p:cNvPr id="31" name="Text 19"/>
          <p:cNvSpPr/>
          <p:nvPr/>
        </p:nvSpPr>
        <p:spPr>
          <a:xfrm>
            <a:off x="3931920" y="3657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KOM/QOM 시스템</a:t>
            </a:r>
            <a:endParaRPr lang="en-US" sz="1000" dirty="0"/>
          </a:p>
        </p:txBody>
      </p:sp>
      <p:sp>
        <p:nvSpPr>
          <p:cNvPr id="32" name="Shape 20"/>
          <p:cNvSpPr/>
          <p:nvPr/>
        </p:nvSpPr>
        <p:spPr>
          <a:xfrm>
            <a:off x="6217920" y="960120"/>
            <a:ext cx="265176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21"/>
          <p:cNvSpPr/>
          <p:nvPr/>
        </p:nvSpPr>
        <p:spPr>
          <a:xfrm>
            <a:off x="6217920" y="960120"/>
            <a:ext cx="2651760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22"/>
          <p:cNvSpPr/>
          <p:nvPr/>
        </p:nvSpPr>
        <p:spPr>
          <a:xfrm>
            <a:off x="7178040" y="1188720"/>
            <a:ext cx="640080" cy="640080"/>
          </a:xfrm>
          <a:prstGeom prst="ellipse">
            <a:avLst/>
          </a:prstGeom>
          <a:solidFill>
            <a:srgbClr val="CCFBF1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5" name="Image 1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69480" y="1280160"/>
            <a:ext cx="457200" cy="457200"/>
          </a:xfrm>
          <a:prstGeom prst="rect">
            <a:avLst/>
          </a:prstGeom>
        </p:spPr>
      </p:pic>
      <p:sp>
        <p:nvSpPr>
          <p:cNvPr id="36" name="Text 23"/>
          <p:cNvSpPr/>
          <p:nvPr/>
        </p:nvSpPr>
        <p:spPr>
          <a:xfrm>
            <a:off x="6400800" y="19659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SSP 포인트 적립</a:t>
            </a:r>
            <a:endParaRPr lang="en-US" sz="1300" dirty="0"/>
          </a:p>
        </p:txBody>
      </p:sp>
      <p:pic>
        <p:nvPicPr>
          <p:cNvPr id="37" name="Image 1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2468880"/>
            <a:ext cx="201168" cy="201168"/>
          </a:xfrm>
          <a:prstGeom prst="rect">
            <a:avLst/>
          </a:prstGeom>
        </p:spPr>
      </p:pic>
      <p:sp>
        <p:nvSpPr>
          <p:cNvPr id="38" name="Text 24"/>
          <p:cNvSpPr/>
          <p:nvPr/>
        </p:nvSpPr>
        <p:spPr>
          <a:xfrm>
            <a:off x="6766560" y="2423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1km당 10포인트 적립</a:t>
            </a:r>
            <a:endParaRPr lang="en-US" sz="1000" dirty="0"/>
          </a:p>
        </p:txBody>
      </p:sp>
      <p:pic>
        <p:nvPicPr>
          <p:cNvPr id="39" name="Image 1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2880360"/>
            <a:ext cx="201168" cy="201168"/>
          </a:xfrm>
          <a:prstGeom prst="rect">
            <a:avLst/>
          </a:prstGeom>
        </p:spPr>
      </p:pic>
      <p:sp>
        <p:nvSpPr>
          <p:cNvPr id="40" name="Text 25"/>
          <p:cNvSpPr/>
          <p:nvPr/>
        </p:nvSpPr>
        <p:spPr>
          <a:xfrm>
            <a:off x="6766560" y="2834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탄소저감량 자동 계산</a:t>
            </a:r>
            <a:endParaRPr lang="en-US" sz="1000" dirty="0"/>
          </a:p>
        </p:txBody>
      </p:sp>
      <p:pic>
        <p:nvPicPr>
          <p:cNvPr id="41" name="Image 1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3291840"/>
            <a:ext cx="201168" cy="201168"/>
          </a:xfrm>
          <a:prstGeom prst="rect">
            <a:avLst/>
          </a:prstGeom>
        </p:spPr>
      </p:pic>
      <p:sp>
        <p:nvSpPr>
          <p:cNvPr id="42" name="Text 26"/>
          <p:cNvSpPr/>
          <p:nvPr/>
        </p:nvSpPr>
        <p:spPr>
          <a:xfrm>
            <a:off x="6766560" y="32461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지역 관광지 쿠폰 교환</a:t>
            </a:r>
            <a:endParaRPr lang="en-US" sz="1000" dirty="0"/>
          </a:p>
        </p:txBody>
      </p:sp>
      <p:pic>
        <p:nvPicPr>
          <p:cNvPr id="43" name="Image 1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3703320"/>
            <a:ext cx="201168" cy="201168"/>
          </a:xfrm>
          <a:prstGeom prst="rect">
            <a:avLst/>
          </a:prstGeom>
        </p:spPr>
      </p:pic>
      <p:sp>
        <p:nvSpPr>
          <p:cNvPr id="44" name="Text 27"/>
          <p:cNvSpPr/>
          <p:nvPr/>
        </p:nvSpPr>
        <p:spPr>
          <a:xfrm>
            <a:off x="6766560" y="3657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완주 인증서 발급</a:t>
            </a:r>
            <a:endParaRPr lang="en-US" sz="1000" dirty="0"/>
          </a:p>
        </p:txBody>
      </p:sp>
      <p:sp>
        <p:nvSpPr>
          <p:cNvPr id="45" name="Shape 28"/>
          <p:cNvSpPr/>
          <p:nvPr/>
        </p:nvSpPr>
        <p:spPr>
          <a:xfrm>
            <a:off x="548640" y="4434840"/>
            <a:ext cx="8046720" cy="45720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" name="Text 29"/>
          <p:cNvSpPr/>
          <p:nvPr/>
        </p:nvSpPr>
        <p:spPr>
          <a:xfrm>
            <a:off x="731520" y="4462272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기술 구현: 관광공사 GPX 파일 활용 → 세그먼트 자동 등록 → 스트라바/가민/애플워치 연동으로 기존 이용자 즉시 참여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1828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8개 테마 코스별 디지털 전환과 4단계 리워드 체계로 지속적 참여를 유도합니다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713232"/>
            <a:ext cx="109728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9144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대표코스 60선 카테고리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192024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548640" y="1371600"/>
            <a:ext cx="54864" cy="64008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731520" y="14173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도심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169164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카페/맛집 연계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651760" y="1371600"/>
            <a:ext cx="192024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2651760" y="1371600"/>
            <a:ext cx="54864" cy="64008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2834640" y="14173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바다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834640" y="169164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해산물 쿠폰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48640" y="2148840"/>
            <a:ext cx="192024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548640" y="2148840"/>
            <a:ext cx="54864" cy="64008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731520" y="21945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섬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1520" y="246888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완주 특별 배지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651760" y="2148840"/>
            <a:ext cx="192024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2651760" y="2148840"/>
            <a:ext cx="54864" cy="64008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2834640" y="21945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834640" y="246888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자전거카페 제휴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8640" y="2926080"/>
            <a:ext cx="192024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548640" y="2926080"/>
            <a:ext cx="54864" cy="64008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731520" y="29718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산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31520" y="324612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난이도 랭킹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651760" y="2926080"/>
            <a:ext cx="192024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2651760" y="2926080"/>
            <a:ext cx="54864" cy="64008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2834640" y="29718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도전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834640" y="324612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장거리 챌린지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48640" y="3703320"/>
            <a:ext cx="192024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548640" y="3703320"/>
            <a:ext cx="54864" cy="64008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731520" y="37490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역사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31520" y="402336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오디오 가이드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651760" y="3703320"/>
            <a:ext cx="192024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2651760" y="3703320"/>
            <a:ext cx="54864" cy="64008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2834640" y="37490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힐링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2834640" y="402336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웰니스 연계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846320" y="9144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스탬프 수집 리워드 체계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846320" y="1371600"/>
            <a:ext cx="374904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9"/>
          <p:cNvSpPr/>
          <p:nvPr/>
        </p:nvSpPr>
        <p:spPr>
          <a:xfrm>
            <a:off x="4846320" y="1371600"/>
            <a:ext cx="73152" cy="7315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/>
          <p:nvPr/>
        </p:nvSpPr>
        <p:spPr>
          <a:xfrm>
            <a:off x="5029200" y="14173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그랜드슬래머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029200" y="17373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순환코스 전체  |  SSP 30,000P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983480" y="2240280"/>
            <a:ext cx="347472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43"/>
          <p:cNvSpPr/>
          <p:nvPr/>
        </p:nvSpPr>
        <p:spPr>
          <a:xfrm>
            <a:off x="4983480" y="2240280"/>
            <a:ext cx="73152" cy="73152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4"/>
          <p:cNvSpPr/>
          <p:nvPr/>
        </p:nvSpPr>
        <p:spPr>
          <a:xfrm>
            <a:off x="5166360" y="22860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골드 라이더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5166360" y="26060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60개 완주  |  SSP 15,000P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120640" y="3108960"/>
            <a:ext cx="320040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9" name="Shape 47"/>
          <p:cNvSpPr/>
          <p:nvPr/>
        </p:nvSpPr>
        <p:spPr>
          <a:xfrm>
            <a:off x="5120640" y="3108960"/>
            <a:ext cx="73152" cy="731520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0" name="Text 48"/>
          <p:cNvSpPr/>
          <p:nvPr/>
        </p:nvSpPr>
        <p:spPr>
          <a:xfrm>
            <a:off x="5303520" y="31546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실버 라이더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5303520" y="34747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30개 완주  |  SSP 5,000P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5257800" y="3977640"/>
            <a:ext cx="292608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51"/>
          <p:cNvSpPr/>
          <p:nvPr/>
        </p:nvSpPr>
        <p:spPr>
          <a:xfrm>
            <a:off x="5257800" y="3977640"/>
            <a:ext cx="73152" cy="731520"/>
          </a:xfrm>
          <a:prstGeom prst="rect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" name="Text 52"/>
          <p:cNvSpPr/>
          <p:nvPr/>
        </p:nvSpPr>
        <p:spPr>
          <a:xfrm>
            <a:off x="5440680" y="40233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브론즈 라이더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5440680" y="43434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10개 완주  |  SSP 1,500P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846320" y="4572000"/>
            <a:ext cx="3749040" cy="320040"/>
          </a:xfrm>
          <a:prstGeom prst="rect">
            <a:avLst/>
          </a:prstGeom>
          <a:solidFill>
            <a:srgbClr val="CCFBF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5"/>
          <p:cNvSpPr/>
          <p:nvPr/>
        </p:nvSpPr>
        <p:spPr>
          <a:xfrm>
            <a:off x="4846320" y="45720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달성 → 재방문 → 완주 → 지역경제 활성화 선순환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34E4A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280160"/>
            <a:ext cx="731520" cy="731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210312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제안 2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731520" y="30175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EEA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자전거 파크런</a:t>
            </a:r>
            <a:endParaRPr lang="en-US" sz="1600" dirty="0"/>
          </a:p>
          <a:p>
            <a:pPr marL="0" indent="0">
              <a:buNone/>
            </a:pPr>
            <a:r>
              <a:rPr lang="en-US" sz="1600" i="1" dirty="0">
                <a:solidFill>
                  <a:srgbClr val="5EEA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매주 같은 시간, 같은 장소 - 대한민국 자전거 파크런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1828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 세계 1,100만 명이 참여하는 파크런 모델을 자전거 + 관광에 최적화합니다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713232"/>
            <a:ext cx="109728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960120"/>
            <a:ext cx="402336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31520" y="1051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파크런(parkrun) 글로벌 성과</a:t>
            </a:r>
            <a:endParaRPr lang="en-US" sz="12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640080" y="1417320"/>
          <a:ext cx="1645920" cy="1280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 6"/>
          <p:cNvSpPr/>
          <p:nvPr/>
        </p:nvSpPr>
        <p:spPr>
          <a:xfrm>
            <a:off x="2560320" y="14173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23개국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474720" y="1417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 국가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2560320" y="17373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1,100만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474720" y="17373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총 참가자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2560320" y="20574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490개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474720" y="20574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호주 장소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2560320" y="23774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WHO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3474720" y="23774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모범 사례 인정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4846320" y="960120"/>
            <a:ext cx="3840480" cy="1828800"/>
          </a:xfrm>
          <a:prstGeom prst="rect">
            <a:avLst/>
          </a:prstGeom>
          <a:solidFill>
            <a:srgbClr val="CCFBF1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/>
          <p:nvPr/>
        </p:nvSpPr>
        <p:spPr>
          <a:xfrm>
            <a:off x="5029200" y="10515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한국형 자전거 파크런 적용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029200" y="14630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매주 토요일 5km 달리기</a:t>
            </a:r>
            <a:endParaRPr lang="en-US" sz="800" dirty="0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1499616"/>
            <a:ext cx="164592" cy="164592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6812280" y="14630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매주 토요일 대표코스 라이딩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5029200" y="177393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물리적 바코드</a:t>
            </a:r>
            <a:endParaRPr lang="en-US" sz="800" dirty="0"/>
          </a:p>
        </p:txBody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1810512"/>
            <a:ext cx="164592" cy="164592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812280" y="177393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GPS 자동 인증</a:t>
            </a:r>
            <a:endParaRPr lang="en-US" sz="800" dirty="0"/>
          </a:p>
        </p:txBody>
      </p:sp>
      <p:sp>
        <p:nvSpPr>
          <p:cNvPr id="25" name="Text 20"/>
          <p:cNvSpPr/>
          <p:nvPr/>
        </p:nvSpPr>
        <p:spPr>
          <a:xfrm>
            <a:off x="5029200" y="208483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종이 결과표</a:t>
            </a:r>
            <a:endParaRPr lang="en-US" sz="800" dirty="0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2121408"/>
            <a:ext cx="164592" cy="164592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6812280" y="208483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실시간 리더보드 + 랭킹</a:t>
            </a:r>
            <a:endParaRPr lang="en-US" sz="800" dirty="0"/>
          </a:p>
        </p:txBody>
      </p:sp>
      <p:sp>
        <p:nvSpPr>
          <p:cNvPr id="28" name="Text 22"/>
          <p:cNvSpPr/>
          <p:nvPr/>
        </p:nvSpPr>
        <p:spPr>
          <a:xfrm>
            <a:off x="5029200" y="239572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무료 참가</a:t>
            </a:r>
            <a:endParaRPr lang="en-US" sz="800" dirty="0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2432304"/>
            <a:ext cx="164592" cy="164592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6812280" y="239572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무료 + SSP 포인트 적립</a:t>
            </a:r>
            <a:endParaRPr lang="en-US" sz="800" dirty="0"/>
          </a:p>
        </p:txBody>
      </p:sp>
      <p:sp>
        <p:nvSpPr>
          <p:cNvPr id="31" name="Text 24"/>
          <p:cNvSpPr/>
          <p:nvPr/>
        </p:nvSpPr>
        <p:spPr>
          <a:xfrm>
            <a:off x="548640" y="3017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1: 파일럿 5개 거점</a:t>
            </a:r>
            <a:endParaRPr lang="en-US" sz="1200" dirty="0"/>
          </a:p>
        </p:txBody>
      </p:sp>
      <p:sp>
        <p:nvSpPr>
          <p:cNvPr id="32" name="Shape 25"/>
          <p:cNvSpPr/>
          <p:nvPr/>
        </p:nvSpPr>
        <p:spPr>
          <a:xfrm>
            <a:off x="548640" y="3429000"/>
            <a:ext cx="150876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26"/>
          <p:cNvSpPr/>
          <p:nvPr/>
        </p:nvSpPr>
        <p:spPr>
          <a:xfrm>
            <a:off x="548640" y="3429000"/>
            <a:ext cx="150876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Text 27"/>
          <p:cNvSpPr/>
          <p:nvPr/>
        </p:nvSpPr>
        <p:spPr>
          <a:xfrm>
            <a:off x="548640" y="352044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서울 한강</a:t>
            </a:r>
            <a:endParaRPr lang="en-US" sz="1200" dirty="0"/>
          </a:p>
        </p:txBody>
      </p:sp>
      <p:sp>
        <p:nvSpPr>
          <p:cNvPr id="35" name="Text 28"/>
          <p:cNvSpPr/>
          <p:nvPr/>
        </p:nvSpPr>
        <p:spPr>
          <a:xfrm>
            <a:off x="548640" y="379476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여의도~반포</a:t>
            </a:r>
            <a:endParaRPr lang="en-US" sz="800" dirty="0"/>
          </a:p>
        </p:txBody>
      </p:sp>
      <p:sp>
        <p:nvSpPr>
          <p:cNvPr id="36" name="Text 29"/>
          <p:cNvSpPr/>
          <p:nvPr/>
        </p:nvSpPr>
        <p:spPr>
          <a:xfrm>
            <a:off x="548640" y="402336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E293B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15km</a:t>
            </a:r>
            <a:endParaRPr lang="en-US" sz="1500" dirty="0"/>
          </a:p>
        </p:txBody>
      </p:sp>
      <p:sp>
        <p:nvSpPr>
          <p:cNvPr id="37" name="Text 30"/>
          <p:cNvSpPr/>
          <p:nvPr/>
        </p:nvSpPr>
        <p:spPr>
          <a:xfrm>
            <a:off x="548640" y="434340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접근성 최고</a:t>
            </a:r>
            <a:endParaRPr lang="en-US" sz="800" dirty="0"/>
          </a:p>
        </p:txBody>
      </p:sp>
      <p:sp>
        <p:nvSpPr>
          <p:cNvPr id="38" name="Shape 31"/>
          <p:cNvSpPr/>
          <p:nvPr/>
        </p:nvSpPr>
        <p:spPr>
          <a:xfrm>
            <a:off x="2231136" y="3429000"/>
            <a:ext cx="150876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2"/>
          <p:cNvSpPr/>
          <p:nvPr/>
        </p:nvSpPr>
        <p:spPr>
          <a:xfrm>
            <a:off x="2231136" y="3429000"/>
            <a:ext cx="150876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3"/>
          <p:cNvSpPr/>
          <p:nvPr/>
        </p:nvSpPr>
        <p:spPr>
          <a:xfrm>
            <a:off x="2231136" y="352044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춘천</a:t>
            </a:r>
            <a:endParaRPr lang="en-US" sz="1200" dirty="0"/>
          </a:p>
        </p:txBody>
      </p:sp>
      <p:sp>
        <p:nvSpPr>
          <p:cNvPr id="41" name="Text 34"/>
          <p:cNvSpPr/>
          <p:nvPr/>
        </p:nvSpPr>
        <p:spPr>
          <a:xfrm>
            <a:off x="2231136" y="379476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의암호 순환</a:t>
            </a:r>
            <a:endParaRPr lang="en-US" sz="800" dirty="0"/>
          </a:p>
        </p:txBody>
      </p:sp>
      <p:sp>
        <p:nvSpPr>
          <p:cNvPr id="42" name="Text 35"/>
          <p:cNvSpPr/>
          <p:nvPr/>
        </p:nvSpPr>
        <p:spPr>
          <a:xfrm>
            <a:off x="2231136" y="402336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E293B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20km</a:t>
            </a:r>
            <a:endParaRPr lang="en-US" sz="1500" dirty="0"/>
          </a:p>
        </p:txBody>
      </p:sp>
      <p:sp>
        <p:nvSpPr>
          <p:cNvPr id="43" name="Text 36"/>
          <p:cNvSpPr/>
          <p:nvPr/>
        </p:nvSpPr>
        <p:spPr>
          <a:xfrm>
            <a:off x="2231136" y="434340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기존 협력지역</a:t>
            </a:r>
            <a:endParaRPr lang="en-US" sz="800" dirty="0"/>
          </a:p>
        </p:txBody>
      </p:sp>
      <p:sp>
        <p:nvSpPr>
          <p:cNvPr id="44" name="Shape 37"/>
          <p:cNvSpPr/>
          <p:nvPr/>
        </p:nvSpPr>
        <p:spPr>
          <a:xfrm>
            <a:off x="3913632" y="3429000"/>
            <a:ext cx="150876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38"/>
          <p:cNvSpPr/>
          <p:nvPr/>
        </p:nvSpPr>
        <p:spPr>
          <a:xfrm>
            <a:off x="3913632" y="3429000"/>
            <a:ext cx="150876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" name="Text 39"/>
          <p:cNvSpPr/>
          <p:nvPr/>
        </p:nvSpPr>
        <p:spPr>
          <a:xfrm>
            <a:off x="3913632" y="352044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경주</a:t>
            </a:r>
            <a:endParaRPr lang="en-US" sz="1200" dirty="0"/>
          </a:p>
        </p:txBody>
      </p:sp>
      <p:sp>
        <p:nvSpPr>
          <p:cNvPr id="47" name="Text 40"/>
          <p:cNvSpPr/>
          <p:nvPr/>
        </p:nvSpPr>
        <p:spPr>
          <a:xfrm>
            <a:off x="3913632" y="379476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역사유적길</a:t>
            </a:r>
            <a:endParaRPr lang="en-US" sz="800" dirty="0"/>
          </a:p>
        </p:txBody>
      </p:sp>
      <p:sp>
        <p:nvSpPr>
          <p:cNvPr id="48" name="Text 41"/>
          <p:cNvSpPr/>
          <p:nvPr/>
        </p:nvSpPr>
        <p:spPr>
          <a:xfrm>
            <a:off x="3913632" y="402336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E293B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26km</a:t>
            </a:r>
            <a:endParaRPr lang="en-US" sz="1500" dirty="0"/>
          </a:p>
        </p:txBody>
      </p:sp>
      <p:sp>
        <p:nvSpPr>
          <p:cNvPr id="49" name="Text 42"/>
          <p:cNvSpPr/>
          <p:nvPr/>
        </p:nvSpPr>
        <p:spPr>
          <a:xfrm>
            <a:off x="3913632" y="434340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역사+자전거</a:t>
            </a:r>
            <a:endParaRPr lang="en-US" sz="800" dirty="0"/>
          </a:p>
        </p:txBody>
      </p:sp>
      <p:sp>
        <p:nvSpPr>
          <p:cNvPr id="50" name="Shape 43"/>
          <p:cNvSpPr/>
          <p:nvPr/>
        </p:nvSpPr>
        <p:spPr>
          <a:xfrm>
            <a:off x="5596128" y="3429000"/>
            <a:ext cx="150876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4"/>
          <p:cNvSpPr/>
          <p:nvPr/>
        </p:nvSpPr>
        <p:spPr>
          <a:xfrm>
            <a:off x="5596128" y="3429000"/>
            <a:ext cx="150876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Text 45"/>
          <p:cNvSpPr/>
          <p:nvPr/>
        </p:nvSpPr>
        <p:spPr>
          <a:xfrm>
            <a:off x="5596128" y="352044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제주</a:t>
            </a:r>
            <a:endParaRPr lang="en-US" sz="1200" dirty="0"/>
          </a:p>
        </p:txBody>
      </p:sp>
      <p:sp>
        <p:nvSpPr>
          <p:cNvPr id="53" name="Text 46"/>
          <p:cNvSpPr/>
          <p:nvPr/>
        </p:nvSpPr>
        <p:spPr>
          <a:xfrm>
            <a:off x="5596128" y="379476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해안도로</a:t>
            </a:r>
            <a:endParaRPr lang="en-US" sz="800" dirty="0"/>
          </a:p>
        </p:txBody>
      </p:sp>
      <p:sp>
        <p:nvSpPr>
          <p:cNvPr id="54" name="Text 47"/>
          <p:cNvSpPr/>
          <p:nvPr/>
        </p:nvSpPr>
        <p:spPr>
          <a:xfrm>
            <a:off x="5596128" y="402336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E293B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20km</a:t>
            </a:r>
            <a:endParaRPr lang="en-US" sz="1500" dirty="0"/>
          </a:p>
        </p:txBody>
      </p:sp>
      <p:sp>
        <p:nvSpPr>
          <p:cNvPr id="55" name="Text 48"/>
          <p:cNvSpPr/>
          <p:nvPr/>
        </p:nvSpPr>
        <p:spPr>
          <a:xfrm>
            <a:off x="5596128" y="434340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관광수요 최고</a:t>
            </a:r>
            <a:endParaRPr lang="en-US" sz="800" dirty="0"/>
          </a:p>
        </p:txBody>
      </p:sp>
      <p:sp>
        <p:nvSpPr>
          <p:cNvPr id="56" name="Shape 49"/>
          <p:cNvSpPr/>
          <p:nvPr/>
        </p:nvSpPr>
        <p:spPr>
          <a:xfrm>
            <a:off x="7278624" y="3429000"/>
            <a:ext cx="150876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50"/>
          <p:cNvSpPr/>
          <p:nvPr/>
        </p:nvSpPr>
        <p:spPr>
          <a:xfrm>
            <a:off x="7278624" y="3429000"/>
            <a:ext cx="150876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Text 51"/>
          <p:cNvSpPr/>
          <p:nvPr/>
        </p:nvSpPr>
        <p:spPr>
          <a:xfrm>
            <a:off x="7278624" y="352044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부산</a:t>
            </a:r>
            <a:endParaRPr lang="en-US" sz="1200" dirty="0"/>
          </a:p>
        </p:txBody>
      </p:sp>
      <p:sp>
        <p:nvSpPr>
          <p:cNvPr id="59" name="Text 52"/>
          <p:cNvSpPr/>
          <p:nvPr/>
        </p:nvSpPr>
        <p:spPr>
          <a:xfrm>
            <a:off x="7278624" y="379476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낙동강 하구</a:t>
            </a:r>
            <a:endParaRPr lang="en-US" sz="800" dirty="0"/>
          </a:p>
        </p:txBody>
      </p:sp>
      <p:sp>
        <p:nvSpPr>
          <p:cNvPr id="60" name="Text 53"/>
          <p:cNvSpPr/>
          <p:nvPr/>
        </p:nvSpPr>
        <p:spPr>
          <a:xfrm>
            <a:off x="7278624" y="402336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E293B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15km</a:t>
            </a:r>
            <a:endParaRPr lang="en-US" sz="1500" dirty="0"/>
          </a:p>
        </p:txBody>
      </p:sp>
      <p:sp>
        <p:nvSpPr>
          <p:cNvPr id="61" name="Text 54"/>
          <p:cNvSpPr/>
          <p:nvPr/>
        </p:nvSpPr>
        <p:spPr>
          <a:xfrm>
            <a:off x="7278624" y="434340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남부권 거점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1828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"대한민국 한 바퀴" 2,237km 그랜드슬램으로 전국 재방문 유도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713232"/>
            <a:ext cx="109728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914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디지털 완주 캠페인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4114800" cy="146304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캠페인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E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거리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E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리워드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E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국토종주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633km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SSP 6,330P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4대강 종주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종합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SSP 8,000P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동해안 종주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318km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SSP 3,180P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제주 일주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234km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SSP 2,340P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그랜드슬램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2,237km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SSP 22,370P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937760" y="9144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구간 랭킹 시스템 (스트라바 영감)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937760" y="1325880"/>
            <a:ext cx="374904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920" y="1435608"/>
            <a:ext cx="292608" cy="292608"/>
          </a:xfrm>
          <a:prstGeom prst="rect">
            <a:avLst/>
          </a:prstGeom>
        </p:spPr>
      </p:pic>
      <p:sp>
        <p:nvSpPr>
          <p:cNvPr id="7" name="Text 7"/>
          <p:cNvSpPr/>
          <p:nvPr/>
        </p:nvSpPr>
        <p:spPr>
          <a:xfrm>
            <a:off x="5486400" y="137160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코스 킹/퀸 (KOR/QOR)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5486400" y="1618488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남/녀 최단 시간 기록 보유자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4937760" y="1984248"/>
            <a:ext cx="374904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2093976"/>
            <a:ext cx="292608" cy="29260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486400" y="202996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단골 라이더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5486400" y="2276856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90일 내 최다 완주자</a:t>
            </a:r>
            <a:endParaRPr lang="en-US" sz="900" dirty="0"/>
          </a:p>
        </p:txBody>
      </p:sp>
      <p:sp>
        <p:nvSpPr>
          <p:cNvPr id="17" name="Shape 12"/>
          <p:cNvSpPr/>
          <p:nvPr/>
        </p:nvSpPr>
        <p:spPr>
          <a:xfrm>
            <a:off x="4937760" y="2642616"/>
            <a:ext cx="374904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4920" y="2752344"/>
            <a:ext cx="292608" cy="29260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486400" y="268833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연령대/지역별 순위</a:t>
            </a:r>
            <a:endParaRPr lang="en-US" sz="1100" dirty="0"/>
          </a:p>
        </p:txBody>
      </p:sp>
      <p:sp>
        <p:nvSpPr>
          <p:cNvPr id="20" name="Text 14"/>
          <p:cNvSpPr/>
          <p:nvPr/>
        </p:nvSpPr>
        <p:spPr>
          <a:xfrm>
            <a:off x="5486400" y="2935224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20대~50대+ / 시도별 필터</a:t>
            </a:r>
            <a:endParaRPr lang="en-US" sz="900" dirty="0"/>
          </a:p>
        </p:txBody>
      </p:sp>
      <p:sp>
        <p:nvSpPr>
          <p:cNvPr id="21" name="Shape 15"/>
          <p:cNvSpPr/>
          <p:nvPr/>
        </p:nvSpPr>
        <p:spPr>
          <a:xfrm>
            <a:off x="4937760" y="3300984"/>
            <a:ext cx="374904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4920" y="3410712"/>
            <a:ext cx="292608" cy="29260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486400" y="334670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시즌 랭킹</a:t>
            </a:r>
            <a:endParaRPr lang="en-US" sz="1100" dirty="0"/>
          </a:p>
        </p:txBody>
      </p:sp>
      <p:sp>
        <p:nvSpPr>
          <p:cNvPr id="24" name="Text 17"/>
          <p:cNvSpPr/>
          <p:nvPr/>
        </p:nvSpPr>
        <p:spPr>
          <a:xfrm>
            <a:off x="5486400" y="359359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분기별 종합 순위 + 시상</a:t>
            </a:r>
            <a:endParaRPr lang="en-US" sz="900" dirty="0"/>
          </a:p>
        </p:txBody>
      </p:sp>
      <p:sp>
        <p:nvSpPr>
          <p:cNvPr id="25" name="Shape 18"/>
          <p:cNvSpPr/>
          <p:nvPr/>
        </p:nvSpPr>
        <p:spPr>
          <a:xfrm>
            <a:off x="4937760" y="3959352"/>
            <a:ext cx="374904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74920" y="4069080"/>
            <a:ext cx="292608" cy="292608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5486400" y="400507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동호회 대항전</a:t>
            </a:r>
            <a:endParaRPr lang="en-US" sz="1100" dirty="0"/>
          </a:p>
        </p:txBody>
      </p:sp>
      <p:sp>
        <p:nvSpPr>
          <p:cNvPr id="28" name="Text 20"/>
          <p:cNvSpPr/>
          <p:nvPr/>
        </p:nvSpPr>
        <p:spPr>
          <a:xfrm>
            <a:off x="5486400" y="425196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 랭킹으로 단체 참여 유도</a:t>
            </a:r>
            <a:endParaRPr lang="en-US" sz="900" dirty="0"/>
          </a:p>
        </p:txBody>
      </p:sp>
      <p:graphicFrame>
        <p:nvGraphicFramePr>
          <p:cNvPr id="29" name="Chart 0"/>
          <p:cNvGraphicFramePr/>
          <p:nvPr/>
        </p:nvGraphicFramePr>
        <p:xfrm>
          <a:off x="548640" y="3794760"/>
          <a:ext cx="4114800" cy="1097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34E4A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280160"/>
            <a:ext cx="731520" cy="731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210312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제안 3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731520" y="30175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EEA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ESG 협업 친환경 캠페인</a:t>
            </a:r>
            <a:endParaRPr lang="en-US" sz="1600" dirty="0"/>
          </a:p>
          <a:p>
            <a:pPr marL="0" indent="0">
              <a:buNone/>
            </a:pPr>
            <a:r>
              <a:rPr lang="en-US" sz="1600" i="1" dirty="0">
                <a:solidFill>
                  <a:srgbClr val="5EEA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라이딩으로 지구를 지키다 - 탄소저감 캠페인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1828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3개의 ESG 캠페인으로 탄소저감 성과를 정량화하고 지역경제를 활성화합니다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713232"/>
            <a:ext cx="109728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914400"/>
            <a:ext cx="8046720" cy="457200"/>
          </a:xfrm>
          <a:prstGeom prst="rect">
            <a:avLst/>
          </a:prstGeom>
          <a:solidFill>
            <a:srgbClr val="CCFBF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31520" y="9144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자전거 1km 라이딩</a:t>
            </a:r>
            <a:endParaRPr lang="en-US" sz="9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3160" y="1051560"/>
            <a:ext cx="164592" cy="16459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743200" y="9144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CO₂ 저감량 자동계산</a:t>
            </a:r>
            <a:endParaRPr lang="en-US" sz="9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1051560"/>
            <a:ext cx="164592" cy="16459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754880" y="9144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SSP 10P 자동적립</a:t>
            </a:r>
            <a:endParaRPr lang="en-US" sz="9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051560"/>
            <a:ext cx="164592" cy="16459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766560" y="9144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쿠폰/용품 교환</a:t>
            </a:r>
            <a:endParaRPr lang="en-US" sz="900" dirty="0"/>
          </a:p>
        </p:txBody>
      </p:sp>
      <p:sp>
        <p:nvSpPr>
          <p:cNvPr id="14" name="Shape 9"/>
          <p:cNvSpPr/>
          <p:nvPr/>
        </p:nvSpPr>
        <p:spPr>
          <a:xfrm>
            <a:off x="548640" y="1554480"/>
            <a:ext cx="2651760" cy="2148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0"/>
          <p:cNvSpPr/>
          <p:nvPr/>
        </p:nvSpPr>
        <p:spPr>
          <a:xfrm>
            <a:off x="548640" y="1554480"/>
            <a:ext cx="2651760" cy="54864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691640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097280" y="1691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Green Ride Korea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731520" y="20116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국가 탄소저감 라이딩 캠페인</a:t>
            </a:r>
            <a:endParaRPr lang="en-US" sz="800" dirty="0"/>
          </a:p>
        </p:txBody>
      </p:sp>
      <p:sp>
        <p:nvSpPr>
          <p:cNvPr id="19" name="Text 13"/>
          <p:cNvSpPr/>
          <p:nvPr/>
        </p:nvSpPr>
        <p:spPr>
          <a:xfrm>
            <a:off x="731520" y="2286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60선 라이딩 시 탄소저감량 자동 집계</a:t>
            </a:r>
            <a:endParaRPr lang="en-US" sz="900" dirty="0"/>
          </a:p>
        </p:txBody>
      </p:sp>
      <p:sp>
        <p:nvSpPr>
          <p:cNvPr id="20" name="Text 14"/>
          <p:cNvSpPr/>
          <p:nvPr/>
        </p:nvSpPr>
        <p:spPr>
          <a:xfrm>
            <a:off x="731520" y="26517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전국 실시간 대시보드 공개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731520" y="30175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연간 100톤 CO₂ 저감 목표</a:t>
            </a:r>
            <a:endParaRPr lang="en-US" sz="900" dirty="0"/>
          </a:p>
        </p:txBody>
      </p:sp>
      <p:sp>
        <p:nvSpPr>
          <p:cNvPr id="22" name="Shape 16"/>
          <p:cNvSpPr/>
          <p:nvPr/>
        </p:nvSpPr>
        <p:spPr>
          <a:xfrm>
            <a:off x="3383280" y="1554480"/>
            <a:ext cx="2651760" cy="2148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7"/>
          <p:cNvSpPr/>
          <p:nvPr/>
        </p:nvSpPr>
        <p:spPr>
          <a:xfrm>
            <a:off x="3383280" y="1554480"/>
            <a:ext cx="265176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6160" y="1691640"/>
            <a:ext cx="274320" cy="27432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3931920" y="1691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Zero Carbon Tour</a:t>
            </a:r>
            <a:endParaRPr lang="en-US" sz="1200" dirty="0"/>
          </a:p>
        </p:txBody>
      </p:sp>
      <p:sp>
        <p:nvSpPr>
          <p:cNvPr id="26" name="Text 19"/>
          <p:cNvSpPr/>
          <p:nvPr/>
        </p:nvSpPr>
        <p:spPr>
          <a:xfrm>
            <a:off x="3566160" y="20116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탄소 제로 여행 인증</a:t>
            </a:r>
            <a:endParaRPr lang="en-US" sz="800" dirty="0"/>
          </a:p>
        </p:txBody>
      </p:sp>
      <p:sp>
        <p:nvSpPr>
          <p:cNvPr id="27" name="Text 20"/>
          <p:cNvSpPr/>
          <p:nvPr/>
        </p:nvSpPr>
        <p:spPr>
          <a:xfrm>
            <a:off x="3566160" y="2286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자전거로만 여행 시 인증 배지 발급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3566160" y="26517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품질인증 업소 방문 추가 포인트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3566160" y="30175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ESG 보고서 실적 반영</a:t>
            </a:r>
            <a:endParaRPr lang="en-US" sz="900" dirty="0"/>
          </a:p>
        </p:txBody>
      </p:sp>
      <p:sp>
        <p:nvSpPr>
          <p:cNvPr id="30" name="Shape 23"/>
          <p:cNvSpPr/>
          <p:nvPr/>
        </p:nvSpPr>
        <p:spPr>
          <a:xfrm>
            <a:off x="6217920" y="1554480"/>
            <a:ext cx="2651760" cy="2148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4"/>
          <p:cNvSpPr/>
          <p:nvPr/>
        </p:nvSpPr>
        <p:spPr>
          <a:xfrm>
            <a:off x="6217920" y="1554480"/>
            <a:ext cx="265176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1691640"/>
            <a:ext cx="274320" cy="27432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766560" y="1691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Ride for Local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6400800" y="20116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지역경제 활성화 캠페인</a:t>
            </a:r>
            <a:endParaRPr lang="en-US" sz="800" dirty="0"/>
          </a:p>
        </p:txBody>
      </p:sp>
      <p:sp>
        <p:nvSpPr>
          <p:cNvPr id="35" name="Text 27"/>
          <p:cNvSpPr/>
          <p:nvPr/>
        </p:nvSpPr>
        <p:spPr>
          <a:xfrm>
            <a:off x="6400800" y="2286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완주 후 지역 SSP 쿠폰 자동 발급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6400800" y="26517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지역별 관광 기여도 분석 리포트</a:t>
            </a:r>
            <a:endParaRPr lang="en-US" sz="900" dirty="0"/>
          </a:p>
        </p:txBody>
      </p:sp>
      <p:sp>
        <p:nvSpPr>
          <p:cNvPr id="37" name="Text 29"/>
          <p:cNvSpPr/>
          <p:nvPr/>
        </p:nvSpPr>
        <p:spPr>
          <a:xfrm>
            <a:off x="6400800" y="30175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춘천마라톤: 숙박 +61.8% 벤치마크</a:t>
            </a:r>
            <a:endParaRPr lang="en-US" sz="900" dirty="0"/>
          </a:p>
        </p:txBody>
      </p:sp>
      <p:sp>
        <p:nvSpPr>
          <p:cNvPr id="38" name="Text 30"/>
          <p:cNvSpPr/>
          <p:nvPr/>
        </p:nvSpPr>
        <p:spPr>
          <a:xfrm>
            <a:off x="548640" y="3840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ESG 성과 측정 체계</a:t>
            </a:r>
            <a:endParaRPr lang="en-US" sz="100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017520" y="3840480"/>
          <a:ext cx="5669280" cy="85344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지표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E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측정 방식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E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주기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E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탄소저감량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SSP 자동 집계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월간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참가자 수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앱 + 이벤트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월간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지역경제 기여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쿠폰 데이터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분기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1828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관광공사 GPX 데이터를 활용하여 약 6주 내 시스템 구축 가능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713232"/>
            <a:ext cx="109728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960120"/>
            <a:ext cx="1371600" cy="7772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48640" y="96012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사용자 접점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103120" y="1005840"/>
            <a:ext cx="155448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2103120" y="100584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라이트브라더스 앱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794760" y="1005840"/>
            <a:ext cx="155448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3794760" y="100584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스트라바 연동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486400" y="1005840"/>
            <a:ext cx="155448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486400" y="100584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가민/애플워치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178040" y="1005840"/>
            <a:ext cx="155448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7178040" y="100584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관광공사 홈페이지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0" y="1737360"/>
            <a:ext cx="0" cy="18288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548640" y="1920240"/>
            <a:ext cx="1371600" cy="777240"/>
          </a:xfrm>
          <a:prstGeom prst="rect">
            <a:avLst/>
          </a:prstGeom>
          <a:solidFill>
            <a:srgbClr val="134E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548640" y="192024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백엔드 시스템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103120" y="1965960"/>
            <a:ext cx="155448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2103120" y="196596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GPS 매칭/세그먼트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794760" y="1965960"/>
            <a:ext cx="155448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3794760" y="196596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SSP 포인트 엔진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86400" y="1965960"/>
            <a:ext cx="155448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5486400" y="196596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랭킹 리더보드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178040" y="1965960"/>
            <a:ext cx="155448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7178040" y="196596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스탬프/배지 관리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0" y="2697480"/>
            <a:ext cx="0" cy="18288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548640" y="2880360"/>
            <a:ext cx="1371600" cy="77724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548640" y="288036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분석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103120" y="2926080"/>
            <a:ext cx="155448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2103120" y="29260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탄소저감 자동계산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794760" y="2926080"/>
            <a:ext cx="155448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3794760" y="29260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관광 기여도 분석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486400" y="2926080"/>
            <a:ext cx="155448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5486400" y="29260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이용 패턴 분석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178040" y="2926080"/>
            <a:ext cx="155448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7178040" y="29260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ESG 대시보드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48640" y="3886200"/>
            <a:ext cx="804672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548640" y="39776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GPX 데이터 활용 로드맵 (약 6주)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1188720" y="425196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1188720" y="4251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1주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822960" y="46634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GPX 임포트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1600200" y="4462272"/>
            <a:ext cx="1737360" cy="0"/>
          </a:xfrm>
          <a:prstGeom prst="line">
            <a:avLst/>
          </a:prstGeom>
          <a:noFill/>
          <a:ln w="25400">
            <a:solidFill>
              <a:srgbClr val="5EEA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42"/>
          <p:cNvSpPr/>
          <p:nvPr/>
        </p:nvSpPr>
        <p:spPr>
          <a:xfrm>
            <a:off x="3337560" y="425196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3"/>
          <p:cNvSpPr/>
          <p:nvPr/>
        </p:nvSpPr>
        <p:spPr>
          <a:xfrm>
            <a:off x="3337560" y="4251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2-3주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2971800" y="46634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세그먼트 변환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3749040" y="4462272"/>
            <a:ext cx="1737360" cy="0"/>
          </a:xfrm>
          <a:prstGeom prst="line">
            <a:avLst/>
          </a:prstGeom>
          <a:noFill/>
          <a:ln w="25400">
            <a:solidFill>
              <a:srgbClr val="5EEA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46"/>
          <p:cNvSpPr/>
          <p:nvPr/>
        </p:nvSpPr>
        <p:spPr>
          <a:xfrm>
            <a:off x="5486400" y="425196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7"/>
          <p:cNvSpPr/>
          <p:nvPr/>
        </p:nvSpPr>
        <p:spPr>
          <a:xfrm>
            <a:off x="5486400" y="4251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4주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5120640" y="46634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체크포인트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5897880" y="4462272"/>
            <a:ext cx="1737360" cy="0"/>
          </a:xfrm>
          <a:prstGeom prst="line">
            <a:avLst/>
          </a:prstGeom>
          <a:noFill/>
          <a:ln w="25400">
            <a:solidFill>
              <a:srgbClr val="5EEA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50"/>
          <p:cNvSpPr/>
          <p:nvPr/>
        </p:nvSpPr>
        <p:spPr>
          <a:xfrm>
            <a:off x="7635240" y="425196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3" name="Text 51"/>
          <p:cNvSpPr/>
          <p:nvPr/>
        </p:nvSpPr>
        <p:spPr>
          <a:xfrm>
            <a:off x="7635240" y="4251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5-6주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7269480" y="46634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테스트 라이딩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1828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 Q2 기획, Q3 파일럿, 2027년 전국 확대 - 10만 명 참가 목표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713232"/>
            <a:ext cx="109728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005840"/>
            <a:ext cx="1965960" cy="64008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48640" y="10058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기획/개발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32588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 Q2</a:t>
            </a:r>
            <a:endParaRPr lang="en-US" sz="9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874520"/>
            <a:ext cx="182880" cy="1828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68680" y="18288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MOU 체결</a:t>
            </a:r>
            <a:endParaRPr lang="en-US" sz="9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240280"/>
            <a:ext cx="182880" cy="1828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68680" y="21945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세그먼트 개발</a:t>
            </a:r>
            <a:endParaRPr lang="en-US" sz="9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606040"/>
            <a:ext cx="182880" cy="1828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68680" y="25603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스탬프 시스템</a:t>
            </a:r>
            <a:endParaRPr lang="en-US" sz="9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971800"/>
            <a:ext cx="182880" cy="18288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68680" y="29260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거점 답사</a:t>
            </a:r>
            <a:endParaRPr lang="en-US" sz="9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337560"/>
            <a:ext cx="182880" cy="18288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868680" y="32918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ESG 기획</a:t>
            </a:r>
            <a:endParaRPr lang="en-US" sz="90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4600" y="1143000"/>
            <a:ext cx="182880" cy="18288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2697480" y="1005840"/>
            <a:ext cx="1965960" cy="64008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3"/>
          <p:cNvSpPr/>
          <p:nvPr/>
        </p:nvSpPr>
        <p:spPr>
          <a:xfrm>
            <a:off x="2697480" y="10058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파일럿 런칭</a:t>
            </a:r>
            <a:endParaRPr lang="en-US" sz="1200" dirty="0"/>
          </a:p>
        </p:txBody>
      </p:sp>
      <p:sp>
        <p:nvSpPr>
          <p:cNvPr id="22" name="Text 14"/>
          <p:cNvSpPr/>
          <p:nvPr/>
        </p:nvSpPr>
        <p:spPr>
          <a:xfrm>
            <a:off x="2697480" y="132588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 Q3</a:t>
            </a:r>
            <a:endParaRPr lang="en-US" sz="900" dirty="0"/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8920" y="1874520"/>
            <a:ext cx="182880" cy="182880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3017520" y="18288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스탬프 베타 오픈</a:t>
            </a:r>
            <a:endParaRPr lang="en-US" sz="900" dirty="0"/>
          </a:p>
        </p:txBody>
      </p:sp>
      <p:pic>
        <p:nvPicPr>
          <p:cNvPr id="25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8920" y="2240280"/>
            <a:ext cx="182880" cy="182880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3017520" y="21945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파크런 첫 개최</a:t>
            </a:r>
            <a:endParaRPr lang="en-US" sz="900" dirty="0"/>
          </a:p>
        </p:txBody>
      </p:sp>
      <p:pic>
        <p:nvPicPr>
          <p:cNvPr id="27" name="Image 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8920" y="2606040"/>
            <a:ext cx="182880" cy="182880"/>
          </a:xfrm>
          <a:prstGeom prst="rect">
            <a:avLst/>
          </a:prstGeom>
        </p:spPr>
      </p:pic>
      <p:sp>
        <p:nvSpPr>
          <p:cNvPr id="28" name="Text 17"/>
          <p:cNvSpPr/>
          <p:nvPr/>
        </p:nvSpPr>
        <p:spPr>
          <a:xfrm>
            <a:off x="3017520" y="25603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랭킹 시스템</a:t>
            </a:r>
            <a:endParaRPr lang="en-US" sz="900" dirty="0"/>
          </a:p>
        </p:txBody>
      </p:sp>
      <p:pic>
        <p:nvPicPr>
          <p:cNvPr id="29" name="Image 9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8920" y="2971800"/>
            <a:ext cx="182880" cy="182880"/>
          </a:xfrm>
          <a:prstGeom prst="rect">
            <a:avLst/>
          </a:prstGeom>
        </p:spPr>
      </p:pic>
      <p:sp>
        <p:nvSpPr>
          <p:cNvPr id="30" name="Text 18"/>
          <p:cNvSpPr/>
          <p:nvPr/>
        </p:nvSpPr>
        <p:spPr>
          <a:xfrm>
            <a:off x="3017520" y="29260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Green Ride 런칭</a:t>
            </a:r>
            <a:endParaRPr lang="en-US" sz="900" dirty="0"/>
          </a:p>
        </p:txBody>
      </p:sp>
      <p:pic>
        <p:nvPicPr>
          <p:cNvPr id="31" name="Image 1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8920" y="3337560"/>
            <a:ext cx="182880" cy="182880"/>
          </a:xfrm>
          <a:prstGeom prst="rect">
            <a:avLst/>
          </a:prstGeom>
        </p:spPr>
      </p:pic>
      <p:sp>
        <p:nvSpPr>
          <p:cNvPr id="32" name="Text 19"/>
          <p:cNvSpPr/>
          <p:nvPr/>
        </p:nvSpPr>
        <p:spPr>
          <a:xfrm>
            <a:off x="3017520" y="32918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미디어 PR</a:t>
            </a:r>
            <a:endParaRPr lang="en-US" sz="900" dirty="0"/>
          </a:p>
        </p:txBody>
      </p:sp>
      <p:pic>
        <p:nvPicPr>
          <p:cNvPr id="33" name="Image 1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1143000"/>
            <a:ext cx="182880" cy="182880"/>
          </a:xfrm>
          <a:prstGeom prst="rect">
            <a:avLst/>
          </a:prstGeom>
        </p:spPr>
      </p:pic>
      <p:sp>
        <p:nvSpPr>
          <p:cNvPr id="34" name="Shape 20"/>
          <p:cNvSpPr/>
          <p:nvPr/>
        </p:nvSpPr>
        <p:spPr>
          <a:xfrm>
            <a:off x="4846320" y="1005840"/>
            <a:ext cx="1965960" cy="64008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Text 21"/>
          <p:cNvSpPr/>
          <p:nvPr/>
        </p:nvSpPr>
        <p:spPr>
          <a:xfrm>
            <a:off x="4846320" y="10058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확장</a:t>
            </a:r>
            <a:endParaRPr lang="en-US" sz="1200" dirty="0"/>
          </a:p>
        </p:txBody>
      </p:sp>
      <p:sp>
        <p:nvSpPr>
          <p:cNvPr id="36" name="Text 22"/>
          <p:cNvSpPr/>
          <p:nvPr/>
        </p:nvSpPr>
        <p:spPr>
          <a:xfrm>
            <a:off x="4846320" y="132588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 Q4</a:t>
            </a:r>
            <a:endParaRPr lang="en-US" sz="900" dirty="0"/>
          </a:p>
        </p:txBody>
      </p:sp>
      <p:pic>
        <p:nvPicPr>
          <p:cNvPr id="37" name="Image 1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1874520"/>
            <a:ext cx="182880" cy="182880"/>
          </a:xfrm>
          <a:prstGeom prst="rect">
            <a:avLst/>
          </a:prstGeom>
        </p:spPr>
      </p:pic>
      <p:sp>
        <p:nvSpPr>
          <p:cNvPr id="38" name="Text 23"/>
          <p:cNvSpPr/>
          <p:nvPr/>
        </p:nvSpPr>
        <p:spPr>
          <a:xfrm>
            <a:off x="5166360" y="18288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5개 거점 정식 운영</a:t>
            </a:r>
            <a:endParaRPr lang="en-US" sz="900" dirty="0"/>
          </a:p>
        </p:txBody>
      </p:sp>
      <p:pic>
        <p:nvPicPr>
          <p:cNvPr id="39" name="Image 1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2240280"/>
            <a:ext cx="182880" cy="182880"/>
          </a:xfrm>
          <a:prstGeom prst="rect">
            <a:avLst/>
          </a:prstGeom>
        </p:spPr>
      </p:pic>
      <p:sp>
        <p:nvSpPr>
          <p:cNvPr id="40" name="Text 24"/>
          <p:cNvSpPr/>
          <p:nvPr/>
        </p:nvSpPr>
        <p:spPr>
          <a:xfrm>
            <a:off x="5166360" y="21945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완주 캠페인 가동</a:t>
            </a:r>
            <a:endParaRPr lang="en-US" sz="900" dirty="0"/>
          </a:p>
        </p:txBody>
      </p:sp>
      <p:pic>
        <p:nvPicPr>
          <p:cNvPr id="41" name="Image 1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2606040"/>
            <a:ext cx="182880" cy="182880"/>
          </a:xfrm>
          <a:prstGeom prst="rect">
            <a:avLst/>
          </a:prstGeom>
        </p:spPr>
      </p:pic>
      <p:sp>
        <p:nvSpPr>
          <p:cNvPr id="42" name="Text 25"/>
          <p:cNvSpPr/>
          <p:nvPr/>
        </p:nvSpPr>
        <p:spPr>
          <a:xfrm>
            <a:off x="5166360" y="25603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시즌1 시상</a:t>
            </a:r>
            <a:endParaRPr lang="en-US" sz="900" dirty="0"/>
          </a:p>
        </p:txBody>
      </p:sp>
      <p:pic>
        <p:nvPicPr>
          <p:cNvPr id="43" name="Image 1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2971800"/>
            <a:ext cx="182880" cy="182880"/>
          </a:xfrm>
          <a:prstGeom prst="rect">
            <a:avLst/>
          </a:prstGeom>
        </p:spPr>
      </p:pic>
      <p:sp>
        <p:nvSpPr>
          <p:cNvPr id="44" name="Text 26"/>
          <p:cNvSpPr/>
          <p:nvPr/>
        </p:nvSpPr>
        <p:spPr>
          <a:xfrm>
            <a:off x="5166360" y="29260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ESG 보고서</a:t>
            </a:r>
            <a:endParaRPr lang="en-US" sz="900" dirty="0"/>
          </a:p>
        </p:txBody>
      </p:sp>
      <p:pic>
        <p:nvPicPr>
          <p:cNvPr id="45" name="Image 1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3337560"/>
            <a:ext cx="182880" cy="182880"/>
          </a:xfrm>
          <a:prstGeom prst="rect">
            <a:avLst/>
          </a:prstGeom>
        </p:spPr>
      </p:pic>
      <p:sp>
        <p:nvSpPr>
          <p:cNvPr id="46" name="Text 27"/>
          <p:cNvSpPr/>
          <p:nvPr/>
        </p:nvSpPr>
        <p:spPr>
          <a:xfrm>
            <a:off x="5166360" y="32918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2027 계획</a:t>
            </a:r>
            <a:endParaRPr lang="en-US" sz="900" dirty="0"/>
          </a:p>
        </p:txBody>
      </p:sp>
      <p:pic>
        <p:nvPicPr>
          <p:cNvPr id="47" name="Image 1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2280" y="1143000"/>
            <a:ext cx="182880" cy="182880"/>
          </a:xfrm>
          <a:prstGeom prst="rect">
            <a:avLst/>
          </a:prstGeom>
        </p:spPr>
      </p:pic>
      <p:sp>
        <p:nvSpPr>
          <p:cNvPr id="48" name="Shape 28"/>
          <p:cNvSpPr/>
          <p:nvPr/>
        </p:nvSpPr>
        <p:spPr>
          <a:xfrm>
            <a:off x="6995160" y="1005840"/>
            <a:ext cx="1965960" cy="64008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" name="Text 29"/>
          <p:cNvSpPr/>
          <p:nvPr/>
        </p:nvSpPr>
        <p:spPr>
          <a:xfrm>
            <a:off x="6995160" y="10058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전국 확대</a:t>
            </a:r>
            <a:endParaRPr lang="en-US" sz="1200" dirty="0"/>
          </a:p>
        </p:txBody>
      </p:sp>
      <p:sp>
        <p:nvSpPr>
          <p:cNvPr id="50" name="Text 30"/>
          <p:cNvSpPr/>
          <p:nvPr/>
        </p:nvSpPr>
        <p:spPr>
          <a:xfrm>
            <a:off x="6995160" y="132588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2027</a:t>
            </a:r>
            <a:endParaRPr lang="en-US" sz="900" dirty="0"/>
          </a:p>
        </p:txBody>
      </p:sp>
      <p:pic>
        <p:nvPicPr>
          <p:cNvPr id="51" name="Image 1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1874520"/>
            <a:ext cx="182880" cy="182880"/>
          </a:xfrm>
          <a:prstGeom prst="rect">
            <a:avLst/>
          </a:prstGeom>
        </p:spPr>
      </p:pic>
      <p:sp>
        <p:nvSpPr>
          <p:cNvPr id="52" name="Text 31"/>
          <p:cNvSpPr/>
          <p:nvPr/>
        </p:nvSpPr>
        <p:spPr>
          <a:xfrm>
            <a:off x="7315200" y="18288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20개 거점 확대</a:t>
            </a:r>
            <a:endParaRPr lang="en-US" sz="900" dirty="0"/>
          </a:p>
        </p:txBody>
      </p:sp>
      <p:pic>
        <p:nvPicPr>
          <p:cNvPr id="53" name="Image 19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2240280"/>
            <a:ext cx="182880" cy="182880"/>
          </a:xfrm>
          <a:prstGeom prst="rect">
            <a:avLst/>
          </a:prstGeom>
        </p:spPr>
      </p:pic>
      <p:sp>
        <p:nvSpPr>
          <p:cNvPr id="54" name="Text 32"/>
          <p:cNvSpPr/>
          <p:nvPr/>
        </p:nvSpPr>
        <p:spPr>
          <a:xfrm>
            <a:off x="7315200" y="21945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60선 전체 전환</a:t>
            </a:r>
            <a:endParaRPr lang="en-US" sz="900" dirty="0"/>
          </a:p>
        </p:txBody>
      </p:sp>
      <p:pic>
        <p:nvPicPr>
          <p:cNvPr id="55" name="Image 2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2606040"/>
            <a:ext cx="182880" cy="182880"/>
          </a:xfrm>
          <a:prstGeom prst="rect">
            <a:avLst/>
          </a:prstGeom>
        </p:spPr>
      </p:pic>
      <p:sp>
        <p:nvSpPr>
          <p:cNvPr id="56" name="Text 33"/>
          <p:cNvSpPr/>
          <p:nvPr/>
        </p:nvSpPr>
        <p:spPr>
          <a:xfrm>
            <a:off x="7315200" y="25603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그랜드슬램</a:t>
            </a:r>
            <a:endParaRPr lang="en-US" sz="900" dirty="0"/>
          </a:p>
        </p:txBody>
      </p:sp>
      <p:pic>
        <p:nvPicPr>
          <p:cNvPr id="57" name="Image 2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2971800"/>
            <a:ext cx="182880" cy="182880"/>
          </a:xfrm>
          <a:prstGeom prst="rect">
            <a:avLst/>
          </a:prstGeom>
        </p:spPr>
      </p:pic>
      <p:sp>
        <p:nvSpPr>
          <p:cNvPr id="58" name="Text 34"/>
          <p:cNvSpPr/>
          <p:nvPr/>
        </p:nvSpPr>
        <p:spPr>
          <a:xfrm>
            <a:off x="7315200" y="29260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인바운드 유치</a:t>
            </a:r>
            <a:endParaRPr lang="en-US" sz="900" dirty="0"/>
          </a:p>
        </p:txBody>
      </p:sp>
      <p:pic>
        <p:nvPicPr>
          <p:cNvPr id="59" name="Image 2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3337560"/>
            <a:ext cx="182880" cy="182880"/>
          </a:xfrm>
          <a:prstGeom prst="rect">
            <a:avLst/>
          </a:prstGeom>
        </p:spPr>
      </p:pic>
      <p:sp>
        <p:nvSpPr>
          <p:cNvPr id="60" name="Text 35"/>
          <p:cNvSpPr/>
          <p:nvPr/>
        </p:nvSpPr>
        <p:spPr>
          <a:xfrm>
            <a:off x="7315200" y="32918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ESG 연간보고</a:t>
            </a:r>
            <a:endParaRPr lang="en-US" sz="900" dirty="0"/>
          </a:p>
        </p:txBody>
      </p:sp>
      <p:sp>
        <p:nvSpPr>
          <p:cNvPr id="61" name="Text 36"/>
          <p:cNvSpPr/>
          <p:nvPr/>
        </p:nvSpPr>
        <p:spPr>
          <a:xfrm>
            <a:off x="548640" y="3657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단계별 참가자 목표</a:t>
            </a:r>
            <a:endParaRPr lang="en-US" sz="1100" dirty="0"/>
          </a:p>
        </p:txBody>
      </p:sp>
      <p:graphicFrame>
        <p:nvGraphicFramePr>
          <p:cNvPr id="62" name="Chart 0"/>
          <p:cNvGraphicFramePr/>
          <p:nvPr/>
        </p:nvGraphicFramePr>
        <p:xfrm>
          <a:off x="548640" y="3840480"/>
          <a:ext cx="8229600" cy="1051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1828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관광 활성화 → 지역경제 → 탄소 저감 → 국민 건강 선순환 실현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713232"/>
            <a:ext cx="109728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005840"/>
            <a:ext cx="265176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548640" y="1005840"/>
            <a:ext cx="265176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18872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88720" y="1188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자전거 관광 활성화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31520" y="16916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948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300%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731520" y="2240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대표코스 60선 이용률 향상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383280" y="1005840"/>
            <a:ext cx="265176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3383280" y="1005840"/>
            <a:ext cx="265176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6160" y="1188720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023360" y="1188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MZ세대 유입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3566160" y="16916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948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5만 명</a:t>
            </a:r>
            <a:endParaRPr lang="en-US" sz="2800" dirty="0"/>
          </a:p>
        </p:txBody>
      </p:sp>
      <p:sp>
        <p:nvSpPr>
          <p:cNvPr id="17" name="Text 13"/>
          <p:cNvSpPr/>
          <p:nvPr/>
        </p:nvSpPr>
        <p:spPr>
          <a:xfrm>
            <a:off x="3566160" y="2240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2027년 신규 참가자 목표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6217920" y="1005840"/>
            <a:ext cx="265176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5"/>
          <p:cNvSpPr/>
          <p:nvPr/>
        </p:nvSpPr>
        <p:spPr>
          <a:xfrm>
            <a:off x="6217920" y="1005840"/>
            <a:ext cx="265176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1188720"/>
            <a:ext cx="365760" cy="36576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858000" y="1188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지역경제 활성화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6400800" y="16916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948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+61.8%</a:t>
            </a:r>
            <a:endParaRPr lang="en-US" sz="2800" dirty="0"/>
          </a:p>
        </p:txBody>
      </p:sp>
      <p:sp>
        <p:nvSpPr>
          <p:cNvPr id="23" name="Text 18"/>
          <p:cNvSpPr/>
          <p:nvPr/>
        </p:nvSpPr>
        <p:spPr>
          <a:xfrm>
            <a:off x="6400800" y="2240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숙박업 매출 증가 벤치마크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548640" y="2834640"/>
            <a:ext cx="265176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0"/>
          <p:cNvSpPr/>
          <p:nvPr/>
        </p:nvSpPr>
        <p:spPr>
          <a:xfrm>
            <a:off x="548640" y="2834640"/>
            <a:ext cx="265176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3017520"/>
            <a:ext cx="365760" cy="36576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188720" y="3017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ESG 탄소저감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731520" y="35204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948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100톤</a:t>
            </a:r>
            <a:endParaRPr lang="en-US" sz="2800" dirty="0"/>
          </a:p>
        </p:txBody>
      </p:sp>
      <p:sp>
        <p:nvSpPr>
          <p:cNvPr id="29" name="Text 23"/>
          <p:cNvSpPr/>
          <p:nvPr/>
        </p:nvSpPr>
        <p:spPr>
          <a:xfrm>
            <a:off x="731520" y="40690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연간 CO₂ 저감 목표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3383280" y="2834640"/>
            <a:ext cx="265176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5"/>
          <p:cNvSpPr/>
          <p:nvPr/>
        </p:nvSpPr>
        <p:spPr>
          <a:xfrm>
            <a:off x="3383280" y="2834640"/>
            <a:ext cx="265176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66160" y="3017520"/>
            <a:ext cx="365760" cy="36576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4023360" y="3017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빅데이터 확보</a:t>
            </a:r>
            <a:endParaRPr lang="en-US" sz="1100" dirty="0"/>
          </a:p>
        </p:txBody>
      </p:sp>
      <p:sp>
        <p:nvSpPr>
          <p:cNvPr id="34" name="Text 27"/>
          <p:cNvSpPr/>
          <p:nvPr/>
        </p:nvSpPr>
        <p:spPr>
          <a:xfrm>
            <a:off x="3566160" y="35204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948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실시간</a:t>
            </a:r>
            <a:endParaRPr lang="en-US" sz="2800" dirty="0"/>
          </a:p>
        </p:txBody>
      </p:sp>
      <p:sp>
        <p:nvSpPr>
          <p:cNvPr id="35" name="Text 28"/>
          <p:cNvSpPr/>
          <p:nvPr/>
        </p:nvSpPr>
        <p:spPr>
          <a:xfrm>
            <a:off x="3566160" y="40690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자전거 관광 데이터 축적</a:t>
            </a:r>
            <a:endParaRPr lang="en-US" sz="900" dirty="0"/>
          </a:p>
        </p:txBody>
      </p:sp>
      <p:sp>
        <p:nvSpPr>
          <p:cNvPr id="36" name="Shape 29"/>
          <p:cNvSpPr/>
          <p:nvPr/>
        </p:nvSpPr>
        <p:spPr>
          <a:xfrm>
            <a:off x="6217920" y="2834640"/>
            <a:ext cx="265176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0"/>
          <p:cNvSpPr/>
          <p:nvPr/>
        </p:nvSpPr>
        <p:spPr>
          <a:xfrm>
            <a:off x="6217920" y="2834640"/>
            <a:ext cx="265176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0" y="3017520"/>
            <a:ext cx="365760" cy="365760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6858000" y="3017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인바운드 관광</a:t>
            </a:r>
            <a:endParaRPr lang="en-US" sz="1100" dirty="0"/>
          </a:p>
        </p:txBody>
      </p:sp>
      <p:sp>
        <p:nvSpPr>
          <p:cNvPr id="40" name="Text 32"/>
          <p:cNvSpPr/>
          <p:nvPr/>
        </p:nvSpPr>
        <p:spPr>
          <a:xfrm>
            <a:off x="6400800" y="35204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948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글로벌</a:t>
            </a:r>
            <a:endParaRPr lang="en-US" sz="2800" dirty="0"/>
          </a:p>
        </p:txBody>
      </p:sp>
      <p:sp>
        <p:nvSpPr>
          <p:cNvPr id="41" name="Text 33"/>
          <p:cNvSpPr/>
          <p:nvPr/>
        </p:nvSpPr>
        <p:spPr>
          <a:xfrm>
            <a:off x="6400800" y="40690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파크런 브랜드 해외 유치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1828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관광공사는 콘텐츠와 채널을, 라이트브라더스는 기술과 운영을 담당합니다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713232"/>
            <a:ext cx="109728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005840"/>
            <a:ext cx="3840480" cy="457200"/>
          </a:xfrm>
          <a:prstGeom prst="rect">
            <a:avLst/>
          </a:prstGeom>
          <a:solidFill>
            <a:srgbClr val="134E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48640" y="10058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한국관광공사 제공</a:t>
            </a:r>
            <a:endParaRPr lang="en-US" sz="14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645920"/>
            <a:ext cx="201168" cy="2011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51560" y="16002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GPX 데이터 (60선 + 순환코스)</a:t>
            </a:r>
            <a:endParaRPr lang="en-US" sz="10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057400"/>
            <a:ext cx="201168" cy="20116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51560" y="20116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관광 콘텐츠 API 연동</a:t>
            </a:r>
            <a:endParaRPr lang="en-US" sz="10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468880"/>
            <a:ext cx="201168" cy="20116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51560" y="24231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공동 브랜딩 로고/마케팅</a:t>
            </a:r>
            <a:endParaRPr lang="en-US" sz="10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880360"/>
            <a:ext cx="201168" cy="20116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51560" y="28346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홍보 채널 (홈페이지/SNS)</a:t>
            </a:r>
            <a:endParaRPr lang="en-US" sz="10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291840"/>
            <a:ext cx="201168" cy="20116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051560" y="32461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배지랜드 시스템 연계</a:t>
            </a:r>
            <a:endParaRPr lang="en-US" sz="10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703320"/>
            <a:ext cx="201168" cy="201168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1051560" y="36576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품질인증 업소 쿠폰 협의</a:t>
            </a:r>
            <a:endParaRPr lang="en-US" sz="1000" dirty="0"/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114800"/>
            <a:ext cx="201168" cy="201168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1051560" y="40690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지자체 협력 중재</a:t>
            </a:r>
            <a:endParaRPr lang="en-US" sz="1000" dirty="0"/>
          </a:p>
        </p:txBody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1960" y="2377440"/>
            <a:ext cx="640080" cy="640080"/>
          </a:xfrm>
          <a:prstGeom prst="rect">
            <a:avLst/>
          </a:prstGeom>
        </p:spPr>
      </p:pic>
      <p:sp>
        <p:nvSpPr>
          <p:cNvPr id="23" name="Shape 13"/>
          <p:cNvSpPr/>
          <p:nvPr/>
        </p:nvSpPr>
        <p:spPr>
          <a:xfrm>
            <a:off x="4846320" y="1005840"/>
            <a:ext cx="3840480" cy="4572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14"/>
          <p:cNvSpPr/>
          <p:nvPr/>
        </p:nvSpPr>
        <p:spPr>
          <a:xfrm>
            <a:off x="4846320" y="10058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라이트브라더스 제공</a:t>
            </a:r>
            <a:endParaRPr lang="en-US" sz="1400" dirty="0"/>
          </a:p>
        </p:txBody>
      </p:sp>
      <p:pic>
        <p:nvPicPr>
          <p:cNvPr id="25" name="Image 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645920"/>
            <a:ext cx="201168" cy="201168"/>
          </a:xfrm>
          <a:prstGeom prst="rect">
            <a:avLst/>
          </a:prstGeom>
        </p:spPr>
      </p:pic>
      <p:sp>
        <p:nvSpPr>
          <p:cNvPr id="26" name="Text 15"/>
          <p:cNvSpPr/>
          <p:nvPr/>
        </p:nvSpPr>
        <p:spPr>
          <a:xfrm>
            <a:off x="5349240" y="16002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디지털 플랫폼 전체 개발/운영</a:t>
            </a:r>
            <a:endParaRPr lang="en-US" sz="1000" dirty="0"/>
          </a:p>
        </p:txBody>
      </p:sp>
      <p:pic>
        <p:nvPicPr>
          <p:cNvPr id="27" name="Image 9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2057400"/>
            <a:ext cx="201168" cy="201168"/>
          </a:xfrm>
          <a:prstGeom prst="rect">
            <a:avLst/>
          </a:prstGeom>
        </p:spPr>
      </p:pic>
      <p:sp>
        <p:nvSpPr>
          <p:cNvPr id="28" name="Text 16"/>
          <p:cNvSpPr/>
          <p:nvPr/>
        </p:nvSpPr>
        <p:spPr>
          <a:xfrm>
            <a:off x="5349240" y="20116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SSP 포인트 인프라</a:t>
            </a:r>
            <a:endParaRPr lang="en-US" sz="1000" dirty="0"/>
          </a:p>
        </p:txBody>
      </p:sp>
      <p:pic>
        <p:nvPicPr>
          <p:cNvPr id="29" name="Image 1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2468880"/>
            <a:ext cx="201168" cy="201168"/>
          </a:xfrm>
          <a:prstGeom prst="rect">
            <a:avLst/>
          </a:prstGeom>
        </p:spPr>
      </p:pic>
      <p:sp>
        <p:nvSpPr>
          <p:cNvPr id="30" name="Text 17"/>
          <p:cNvSpPr/>
          <p:nvPr/>
        </p:nvSpPr>
        <p:spPr>
          <a:xfrm>
            <a:off x="5349240" y="24231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스트라바/가민 연동 기술</a:t>
            </a:r>
            <a:endParaRPr lang="en-US" sz="1000" dirty="0"/>
          </a:p>
        </p:txBody>
      </p:sp>
      <p:pic>
        <p:nvPicPr>
          <p:cNvPr id="31" name="Image 1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2880360"/>
            <a:ext cx="201168" cy="201168"/>
          </a:xfrm>
          <a:prstGeom prst="rect">
            <a:avLst/>
          </a:prstGeom>
        </p:spPr>
      </p:pic>
      <p:sp>
        <p:nvSpPr>
          <p:cNvPr id="32" name="Text 18"/>
          <p:cNvSpPr/>
          <p:nvPr/>
        </p:nvSpPr>
        <p:spPr>
          <a:xfrm>
            <a:off x="5349240" y="28346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분석 리포트</a:t>
            </a:r>
            <a:endParaRPr lang="en-US" sz="1000" dirty="0"/>
          </a:p>
        </p:txBody>
      </p:sp>
      <p:pic>
        <p:nvPicPr>
          <p:cNvPr id="33" name="Image 1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3291840"/>
            <a:ext cx="201168" cy="201168"/>
          </a:xfrm>
          <a:prstGeom prst="rect">
            <a:avLst/>
          </a:prstGeom>
        </p:spPr>
      </p:pic>
      <p:sp>
        <p:nvSpPr>
          <p:cNvPr id="34" name="Text 19"/>
          <p:cNvSpPr/>
          <p:nvPr/>
        </p:nvSpPr>
        <p:spPr>
          <a:xfrm>
            <a:off x="5349240" y="32461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파크런 이벤트 기획/운영</a:t>
            </a:r>
            <a:endParaRPr lang="en-US" sz="1000" dirty="0"/>
          </a:p>
        </p:txBody>
      </p:sp>
      <p:pic>
        <p:nvPicPr>
          <p:cNvPr id="35" name="Image 1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3703320"/>
            <a:ext cx="201168" cy="201168"/>
          </a:xfrm>
          <a:prstGeom prst="rect">
            <a:avLst/>
          </a:prstGeom>
        </p:spPr>
      </p:pic>
      <p:sp>
        <p:nvSpPr>
          <p:cNvPr id="36" name="Text 20"/>
          <p:cNvSpPr/>
          <p:nvPr/>
        </p:nvSpPr>
        <p:spPr>
          <a:xfrm>
            <a:off x="5349240" y="36576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자전거 동호회 네트워크</a:t>
            </a:r>
            <a:endParaRPr lang="en-US" sz="1000" dirty="0"/>
          </a:p>
        </p:txBody>
      </p:sp>
      <p:pic>
        <p:nvPicPr>
          <p:cNvPr id="37" name="Image 1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4114800"/>
            <a:ext cx="201168" cy="201168"/>
          </a:xfrm>
          <a:prstGeom prst="rect">
            <a:avLst/>
          </a:prstGeom>
        </p:spPr>
      </p:pic>
      <p:sp>
        <p:nvSpPr>
          <p:cNvPr id="38" name="Text 21"/>
          <p:cNvSpPr/>
          <p:nvPr/>
        </p:nvSpPr>
        <p:spPr>
          <a:xfrm>
            <a:off x="5349240" y="40690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시스템 개발비 4억 원 부담</a:t>
            </a:r>
            <a:endParaRPr lang="en-US" sz="1000" dirty="0"/>
          </a:p>
        </p:txBody>
      </p:sp>
      <p:sp>
        <p:nvSpPr>
          <p:cNvPr id="39" name="Shape 22"/>
          <p:cNvSpPr/>
          <p:nvPr/>
        </p:nvSpPr>
        <p:spPr>
          <a:xfrm>
            <a:off x="548640" y="4572000"/>
            <a:ext cx="8046720" cy="365760"/>
          </a:xfrm>
          <a:prstGeom prst="rect">
            <a:avLst/>
          </a:prstGeom>
          <a:solidFill>
            <a:srgbClr val="CCFBF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" name="Text 23"/>
          <p:cNvSpPr/>
          <p:nvPr/>
        </p:nvSpPr>
        <p:spPr>
          <a:xfrm>
            <a:off x="548640" y="45720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관광공사의 콘텐츠/네트워크 + 라이트브라더스의 기술/커뮤니티 = 최적의 시너지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1828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글로벌 성공 사례가 증명하는 자전거+디지털+커뮤니티 모델의 가능성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713232"/>
            <a:ext cx="109728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005840"/>
            <a:ext cx="196596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548640" y="1005840"/>
            <a:ext cx="196596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48640" y="11887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948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parkrun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155448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호주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19659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93B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100만 명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31520" y="256032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매주 무료 5km 러닝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WHO 모범 사례 인정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697480" y="1005840"/>
            <a:ext cx="196596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2697480" y="1005840"/>
            <a:ext cx="1965960" cy="54864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2697480" y="11887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59669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Strava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697480" y="155448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글로벌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697480" y="19659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93B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1.8억 명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2880360" y="256032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GPS 구간 랭킹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기업가치 3조 원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846320" y="1005840"/>
            <a:ext cx="196596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4846320" y="1005840"/>
            <a:ext cx="196596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4846320" y="11887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891B2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Komoot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846320" y="155448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독일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846320" y="19659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93B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유럽 1위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029200" y="256032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아웃도어 코스 + 내비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유럽 자전거 관광 선도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995160" y="1005840"/>
            <a:ext cx="196596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6995160" y="1005840"/>
            <a:ext cx="1965960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6995160" y="11887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9E0B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EuroVelo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995160" y="155448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EU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995160" y="19659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93B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90,000km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7178040" y="256032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17개 루트 네트워크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유럽 자전거 관광 인프라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48640" y="4023360"/>
            <a:ext cx="8046720" cy="822960"/>
          </a:xfrm>
          <a:prstGeom prst="rect">
            <a:avLst/>
          </a:prstGeom>
          <a:solidFill>
            <a:srgbClr val="CCFBF1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731520" y="4114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시사점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31520" y="43891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무료 + 정기적 + 커뮤니티 = 대규모 참여 (parkrun 검증)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GPS 기반 구간 랭킹은 이미 1.8억 명이 사용 (Strava 검증)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한국은 인프라(27,754km) + 디지털 역량 + 관광 콘텐츠를 모두 갖춘 최적의 시장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4023360"/>
            <a:ext cx="9144000" cy="1120140"/>
          </a:xfrm>
          <a:prstGeom prst="rect">
            <a:avLst/>
          </a:prstGeom>
          <a:solidFill>
            <a:srgbClr val="134E4A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0" y="914400"/>
            <a:ext cx="1097280" cy="1097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21945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5EEA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자전거로 대한민국을 달리며,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31520" y="26517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5EEA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관광을 즐기고, 탄소를 줄이는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31520" y="31089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i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새로운 여행 문화를 함께 만들어가겠습니다.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731520" y="42062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 err="1">
                <a:solidFill>
                  <a:srgbClr val="5EEA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라이트브라더스</a:t>
            </a:r>
            <a:r>
              <a:rPr lang="ko-KR" altLang="en-US" sz="1600" b="1" dirty="0">
                <a:solidFill>
                  <a:srgbClr val="5EEA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㈜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31520" y="45720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kern="0" spc="8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THANK YOU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1828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1차년도 6.5억 원 투자 대비 3.1억 원 수익, 2차년도 BEP 목표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713232"/>
            <a:ext cx="109728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914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사업 비용 추정 (1차년도)</a:t>
            </a:r>
            <a:endParaRPr lang="en-US" sz="12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365760" y="1188720"/>
          <a:ext cx="2560320" cy="2011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4713853"/>
              </p:ext>
            </p:extLst>
          </p:nvPr>
        </p:nvGraphicFramePr>
        <p:xfrm>
          <a:off x="3108960" y="1234440"/>
          <a:ext cx="4114800" cy="134112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항목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E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금액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E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분담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E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시스템 개발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2.0억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/>
                        <a:t>협의</a:t>
                      </a:r>
                      <a:endParaRPr lang="en-US" altLang="ko-KR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앱 고도화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1.5억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/>
                        <a:t>협의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이벤트/ESG/마케팅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2.5억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/>
                        <a:t>협의</a:t>
                      </a:r>
                      <a:endParaRPr lang="en-US" altLang="ko-KR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SSP 원가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**억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00" dirty="0"/>
                        <a:t>협의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D9488"/>
                          </a:solidFill>
                        </a:rPr>
                        <a:t>합계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0D9488"/>
                          </a:solidFill>
                        </a:rPr>
                        <a:t>6억 원+</a:t>
                      </a:r>
                      <a:r>
                        <a:rPr lang="en-US" sz="900" b="1" dirty="0">
                          <a:solidFill>
                            <a:srgbClr val="0D9488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@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846320" y="3337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수익 모델 (1차년도)</a:t>
            </a:r>
            <a:endParaRPr lang="en-US" sz="1200" dirty="0"/>
          </a:p>
        </p:txBody>
      </p:sp>
      <p:graphicFrame>
        <p:nvGraphicFramePr>
          <p:cNvPr id="10" name="Chart 1"/>
          <p:cNvGraphicFramePr/>
          <p:nvPr/>
        </p:nvGraphicFramePr>
        <p:xfrm>
          <a:off x="548640" y="3566160"/>
          <a:ext cx="4114800" cy="1371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1" name="Shape 6"/>
          <p:cNvSpPr/>
          <p:nvPr/>
        </p:nvSpPr>
        <p:spPr>
          <a:xfrm>
            <a:off x="4937760" y="3657600"/>
            <a:ext cx="3657600" cy="1280160"/>
          </a:xfrm>
          <a:prstGeom prst="rect">
            <a:avLst/>
          </a:prstGeom>
          <a:solidFill>
            <a:srgbClr val="CCFBF1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Text 7"/>
          <p:cNvSpPr/>
          <p:nvPr/>
        </p:nvSpPr>
        <p:spPr>
          <a:xfrm>
            <a:off x="5120640" y="37490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투자 대비 기대 효과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5120640" y="406908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자전거 관광 5만 명 신규 유입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대표코스 60선 인지도 300% 향상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연간 100톤 CO₂ 저감 (ESG 활용)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자전거 관광 빅데이터 확보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Pretendard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Pretendard"/>
        <a:font script="Hebr" typeface="Pretendard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Pretendard"/>
        <a:font script="Uigh" typeface="Microsoft Uighur"/>
        <a:font script="Geor" typeface="Sylfaen"/>
        <a:font script="Armn" typeface="Pretendard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253</TotalTime>
  <Words>1389</Words>
  <Application>Microsoft Office PowerPoint</Application>
  <PresentationFormat>화면 슬라이드 쇼(16:9)</PresentationFormat>
  <Paragraphs>417</Paragraphs>
  <Slides>19</Slides>
  <Notes>19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2" baseType="lpstr">
      <vt:lpstr>Pretendard</vt:lpstr>
      <vt:lpstr>Pretendard Black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한국관광공사 x 라이트브라더스 사업제안서</dc:title>
  <dc:subject>PptxGenJS Presentation</dc:subject>
  <dc:creator>라이트브라더스</dc:creator>
  <cp:lastModifiedBy>김 병수</cp:lastModifiedBy>
  <cp:revision>5</cp:revision>
  <dcterms:created xsi:type="dcterms:W3CDTF">2026-03-23T03:05:59Z</dcterms:created>
  <dcterms:modified xsi:type="dcterms:W3CDTF">2026-03-23T08:07:05Z</dcterms:modified>
</cp:coreProperties>
</file>