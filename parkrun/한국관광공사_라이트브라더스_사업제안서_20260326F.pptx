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5" r:id="rId19"/>
    <p:sldId id="27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7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Pretendard"/>
              </a:defRPr>
            </a:pPr>
            <a:r>
              <a:rPr lang="ko-KR" altLang="en-US" sz="1000" b="0" i="0" u="none" strike="noStrike">
                <a:solidFill>
                  <a:srgbClr val="334155"/>
                </a:solidFill>
                <a:latin typeface="Pretendard"/>
              </a:rPr>
              <a:t>대표코스 </a:t>
            </a:r>
            <a:r>
              <a:rPr lang="en-US" altLang="ko-KR" sz="1000" b="0" i="0" u="none" strike="noStrike">
                <a:solidFill>
                  <a:srgbClr val="334155"/>
                </a:solidFill>
                <a:latin typeface="Pretendard"/>
              </a:rPr>
              <a:t>60</a:t>
            </a:r>
            <a:r>
              <a:rPr lang="ko-KR" altLang="en-US" sz="1000" b="0" i="0" u="none" strike="noStrike">
                <a:solidFill>
                  <a:srgbClr val="334155"/>
                </a:solidFill>
                <a:latin typeface="Pretendard"/>
              </a:rPr>
              <a:t>선 권역별 분포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코스 수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서울/경기/강원</c:v>
                </c:pt>
                <c:pt idx="1">
                  <c:v>대전/세종/충청</c:v>
                </c:pt>
                <c:pt idx="2">
                  <c:v>대구/경북</c:v>
                </c:pt>
                <c:pt idx="3">
                  <c:v>광주/전라</c:v>
                </c:pt>
                <c:pt idx="4">
                  <c:v>부산/경남</c:v>
                </c:pt>
                <c:pt idx="5">
                  <c:v>제주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9</c:v>
                </c:pt>
                <c:pt idx="2">
                  <c:v>6</c:v>
                </c:pt>
                <c:pt idx="3">
                  <c:v>10</c:v>
                </c:pt>
                <c:pt idx="4">
                  <c:v>12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43-4BE9-8F47-A06F84FF2B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분포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7EB-4D95-9FE8-E60FB2051F41}"/>
              </c:ext>
            </c:extLst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EB-4D95-9FE8-E60FB2051F41}"/>
              </c:ext>
            </c:extLst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EB-4D95-9FE8-E60FB2051F4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7EB-4D95-9FE8-E60FB2051F4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7EB-4D95-9FE8-E60FB2051F4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7EB-4D95-9FE8-E60FB2051F4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호주</c:v>
                </c:pt>
                <c:pt idx="1">
                  <c:v>영국</c:v>
                </c:pt>
                <c:pt idx="2">
                  <c:v>기타 21개국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500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7EB-4D95-9FE8-E60FB2051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거리(km)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334155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국토종주</c:v>
                </c:pt>
                <c:pt idx="1">
                  <c:v>동해안(강원)</c:v>
                </c:pt>
                <c:pt idx="2">
                  <c:v>제주환상</c:v>
                </c:pt>
                <c:pt idx="3">
                  <c:v>금강</c:v>
                </c:pt>
                <c:pt idx="4">
                  <c:v>섬진강</c:v>
                </c:pt>
                <c:pt idx="5">
                  <c:v>영산강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633</c:v>
                </c:pt>
                <c:pt idx="1">
                  <c:v>242</c:v>
                </c:pt>
                <c:pt idx="2">
                  <c:v>234</c:v>
                </c:pt>
                <c:pt idx="3">
                  <c:v>146</c:v>
                </c:pt>
                <c:pt idx="4">
                  <c:v>149</c:v>
                </c:pt>
                <c:pt idx="5">
                  <c:v>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06-4D10-92D4-581A69B50E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참가자(명)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14-4F27-B39D-57FEB8C59AD6}"/>
              </c:ext>
            </c:extLst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14-4F27-B39D-57FEB8C59AD6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14-4F27-B39D-57FEB8C59AD6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14-4F27-B39D-57FEB8C59AD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파일럿 2026</c:v>
                </c:pt>
                <c:pt idx="1">
                  <c:v>확장1 2027상</c:v>
                </c:pt>
                <c:pt idx="2">
                  <c:v>확장2 2027하</c:v>
                </c:pt>
                <c:pt idx="3">
                  <c:v>안정화 2028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20</c:v>
                </c:pt>
                <c:pt idx="2">
                  <c:v>50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A14-4F27-B39D-57FEB8C59A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FF4-4E1C-A924-BB3DF2AE0030}"/>
              </c:ext>
            </c:extLst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F4-4E1C-A924-BB3DF2AE0030}"/>
              </c:ext>
            </c:extLst>
          </c:dPt>
          <c:dPt>
            <c:idx val="2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FF4-4E1C-A924-BB3DF2AE0030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FF4-4E1C-A924-BB3DF2AE0030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FF4-4E1C-A924-BB3DF2AE0030}"/>
              </c:ext>
            </c:extLst>
          </c:dPt>
          <c:dPt>
            <c:idx val="5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FF4-4E1C-A924-BB3DF2AE003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F4-4E1C-A924-BB3DF2AE003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FF4-4E1C-A924-BB3DF2AE003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FF4-4E1C-A924-BB3DF2AE003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FF4-4E1C-A924-BB3DF2AE003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FF4-4E1C-A924-BB3DF2AE003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334155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FF4-4E1C-A924-BB3DF2AE003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시스템 개발</c:v>
                </c:pt>
                <c:pt idx="1">
                  <c:v>앱 고도화</c:v>
                </c:pt>
                <c:pt idx="2">
                  <c:v>이벤트 운영</c:v>
                </c:pt>
                <c:pt idx="3">
                  <c:v>ESG 캠페인</c:v>
                </c:pt>
                <c:pt idx="4">
                  <c:v>마케팅/PR</c:v>
                </c:pt>
                <c:pt idx="5">
                  <c:v>SSP 원가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1.5</c:v>
                </c:pt>
                <c:pt idx="2">
                  <c:v>1</c:v>
                </c:pt>
                <c:pt idx="3">
                  <c:v>0.5</c:v>
                </c:pt>
                <c:pt idx="4">
                  <c:v>1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FF4-4E1C-A924-BB3DF2AE00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수익(억원)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스폰서십</c:v>
                </c:pt>
                <c:pt idx="1">
                  <c:v>프리미엄 구독</c:v>
                </c:pt>
                <c:pt idx="2">
                  <c:v>커머스</c:v>
                </c:pt>
                <c:pt idx="3">
                  <c:v>데이터 사업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0.5</c:v>
                </c:pt>
                <c:pt idx="2">
                  <c:v>0.8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A-46D5-B750-6A50CB43C8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727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CD5F7-63F7-1AFE-DDBD-719D706B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9D181-1118-6E9A-EA85-9791A6139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C49F8-0D7E-B3CE-096F-D54CC189D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82CD8-DF20-7CF3-00EB-FCEB1922F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42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Pretendard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Pretendard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Pretendard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Pretendard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PROPOSAL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한국관광공사 x 라이트브라더스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사업제안서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"대한민국 자전거 파크런"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스탬프 투어  x  구간 랭킹  x  ESG 캠페인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제안사: </a:t>
            </a:r>
            <a:r>
              <a:rPr lang="en-US" sz="1200" b="1" dirty="0" err="1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</a:t>
            </a:r>
            <a:r>
              <a:rPr lang="ko-KR" altLang="en-US" sz="12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수신: 한국관광공사 </a:t>
            </a:r>
            <a:r>
              <a:rPr lang="en-US" sz="1000" dirty="0" err="1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지역콘텐츠육성팀</a:t>
            </a: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|  2026.03.19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4630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달릴수록 포인트가 쌓이고, 지역 관광이 활성화되고, 탄소가 줄어드는 선순환 플랫폼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606040" cy="109728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순환코스 스탬프 투어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627632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2860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48640" y="22860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73152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스탬프 투어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GPS 자동 인증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구간 랭킹 시스템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37560" y="1005840"/>
            <a:ext cx="2606040" cy="109728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10972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순환코스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캠페인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27632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337560" y="22860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3337560" y="22860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352044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파크런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52044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정기 라이딩 이벤트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완주 챌린지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26480" y="1005840"/>
            <a:ext cx="2606040" cy="109728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0972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20840" y="1051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협업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친환경 캠페인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627632"/>
            <a:ext cx="228600" cy="228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126480" y="22860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6126480" y="22860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/>
          <p:nvPr/>
        </p:nvSpPr>
        <p:spPr>
          <a:xfrm>
            <a:off x="630936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탄소저감 캠페인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30936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탄소저감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마일리지 보상 체계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3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관광공사의 3가지 요청사항을 SSP 시스템 + 파크런 모델로 통합 해결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세계적 수준의 자전거 인프라를 보유하고 있으나, 디지털 전환이 미흡합니다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27,754km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자전거도로 총연장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대비 +3.3%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65176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65176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2,237km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국토종주 자전거길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노선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5488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506만명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5488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따릉이 누적 회원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공공자전거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58000" y="1005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85800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60개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8580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2024.12 문체부 발표</a:t>
            </a:r>
            <a:endParaRPr lang="en-US" sz="9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548640" y="274320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5029200" y="2743200"/>
            <a:ext cx="3657600" cy="210312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21208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전환 기회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212080" y="3246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인프라는 갖추었으나 디지털 서비스 부재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스탬프 기반 인증 → MZ세대 참여 저조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라이딩 데이터 축적 불가 → 정책 수립 한계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탄소저감 효과 미측정 → ESG 활용 불가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56CF-D8BA-0F76-4EBE-7C674D3E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945745-5CD5-4731-760B-5B1833D4E9B0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C90FE2-A1E3-0996-2395-2223C6CA945C}"/>
              </a:ext>
            </a:extLst>
          </p:cNvPr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스탬프 투어의 3가지 핵심 문제를 디지털 전환으로 해결합니다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E3AF7A3-9510-2E54-7477-ACFA6E15179B}"/>
              </a:ext>
            </a:extLst>
          </p:cNvPr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AA0B7B-46F7-A693-957A-92BC43548DC8}"/>
              </a:ext>
            </a:extLst>
          </p:cNvPr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603A299-32DF-6B43-67B6-0B30CB79E9DF}"/>
              </a:ext>
            </a:extLst>
          </p:cNvPr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390329-0760-828C-BD38-AC6B9EEC7037}"/>
              </a:ext>
            </a:extLst>
          </p:cNvPr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AS-IS: 현재 한계</a:t>
            </a:r>
            <a:endParaRPr lang="en-US" sz="13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BCED365-1BA1-9D14-DAB9-2154EB2BACF4}"/>
              </a:ext>
            </a:extLst>
          </p:cNvPr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1DD2D20-7146-0904-8750-DD481FFC808B}"/>
              </a:ext>
            </a:extLst>
          </p:cNvPr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TO-BE: 디지털 전환 솔루션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85F909D-F0C8-3A4B-B455-9BBCEAA64731}"/>
              </a:ext>
            </a:extLst>
          </p:cNvPr>
          <p:cNvSpPr/>
          <p:nvPr/>
        </p:nvSpPr>
        <p:spPr>
          <a:xfrm>
            <a:off x="548640" y="1507436"/>
            <a:ext cx="3840480" cy="914399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8CA8DBA-F439-DD24-A7C3-767835A6818E}"/>
              </a:ext>
            </a:extLst>
          </p:cNvPr>
          <p:cNvSpPr/>
          <p:nvPr/>
        </p:nvSpPr>
        <p:spPr>
          <a:xfrm>
            <a:off x="548640" y="1507436"/>
            <a:ext cx="54864" cy="914399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1FD2070-1751-4F94-644E-0EA310FC0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6036"/>
            <a:ext cx="320040" cy="320039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2236ACDC-1C81-BB0E-FAD9-F2D89DCC1FFB}"/>
              </a:ext>
            </a:extLst>
          </p:cNvPr>
          <p:cNvSpPr/>
          <p:nvPr/>
        </p:nvSpPr>
        <p:spPr>
          <a:xfrm>
            <a:off x="1234440" y="1598876"/>
            <a:ext cx="2926080" cy="320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스탬프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DFBF0E8-A3CC-B35C-0546-3CE702B7DFE5}"/>
              </a:ext>
            </a:extLst>
          </p:cNvPr>
          <p:cNvSpPr/>
          <p:nvPr/>
        </p:nvSpPr>
        <p:spPr>
          <a:xfrm>
            <a:off x="1234440" y="19189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인증센터 운영 비용, 위치 제약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인력 상시 필요</a:t>
            </a:r>
            <a:endParaRPr lang="en-US" sz="9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E6C48CB-71D6-5D77-F347-F41D3D243BD7}"/>
              </a:ext>
            </a:extLst>
          </p:cNvPr>
          <p:cNvSpPr/>
          <p:nvPr/>
        </p:nvSpPr>
        <p:spPr>
          <a:xfrm>
            <a:off x="548640" y="2558996"/>
            <a:ext cx="3840480" cy="914399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6BA5DF0-E362-2C6A-B21D-018A4B46D542}"/>
              </a:ext>
            </a:extLst>
          </p:cNvPr>
          <p:cNvSpPr/>
          <p:nvPr/>
        </p:nvSpPr>
        <p:spPr>
          <a:xfrm>
            <a:off x="548640" y="2558996"/>
            <a:ext cx="54864" cy="914399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F3EB0ABA-0365-876A-67D2-4263F5FA1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87595"/>
            <a:ext cx="320040" cy="320039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8539F8B4-C1EA-C854-BB5B-C15EF22A3667}"/>
              </a:ext>
            </a:extLst>
          </p:cNvPr>
          <p:cNvSpPr/>
          <p:nvPr/>
        </p:nvSpPr>
        <p:spPr>
          <a:xfrm>
            <a:off x="1234440" y="2650436"/>
            <a:ext cx="2926080" cy="320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스탬프북</a:t>
            </a:r>
            <a:endParaRPr lang="en-US" sz="1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5F79923-24BE-BA2F-998C-BD9817ECA1A3}"/>
              </a:ext>
            </a:extLst>
          </p:cNvPr>
          <p:cNvSpPr/>
          <p:nvPr/>
        </p:nvSpPr>
        <p:spPr>
          <a:xfrm>
            <a:off x="1234440" y="2970475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분실 위험, 데이터 축적 불가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MZ세대 참여 저조</a:t>
            </a:r>
            <a:endParaRPr lang="en-US" sz="9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98FC4CFD-6E0D-D5D5-BC07-4DACACC60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467555"/>
            <a:ext cx="320040" cy="320039"/>
          </a:xfrm>
          <a:prstGeom prst="rect">
            <a:avLst/>
          </a:prstGeom>
        </p:spPr>
      </p:pic>
      <p:sp>
        <p:nvSpPr>
          <p:cNvPr id="26" name="Shape 20">
            <a:extLst>
              <a:ext uri="{FF2B5EF4-FFF2-40B4-BE49-F238E27FC236}">
                <a16:creationId xmlns:a16="http://schemas.microsoft.com/office/drawing/2014/main" id="{3C8733E4-0ED0-E64E-9EE9-4840865A45AF}"/>
              </a:ext>
            </a:extLst>
          </p:cNvPr>
          <p:cNvSpPr/>
          <p:nvPr/>
        </p:nvSpPr>
        <p:spPr>
          <a:xfrm>
            <a:off x="4846320" y="1507436"/>
            <a:ext cx="3840480" cy="914399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DC263DC7-65B9-D1E4-2E89-A003FD6FF5D5}"/>
              </a:ext>
            </a:extLst>
          </p:cNvPr>
          <p:cNvSpPr/>
          <p:nvPr/>
        </p:nvSpPr>
        <p:spPr>
          <a:xfrm>
            <a:off x="4846320" y="1507436"/>
            <a:ext cx="54864" cy="914399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7D899C41-4BA7-1DB3-979C-B1B8EE7CA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736036"/>
            <a:ext cx="320040" cy="320039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62D2F830-E015-BEB7-3C14-02D080FA43B2}"/>
              </a:ext>
            </a:extLst>
          </p:cNvPr>
          <p:cNvSpPr/>
          <p:nvPr/>
        </p:nvSpPr>
        <p:spPr>
          <a:xfrm>
            <a:off x="5532120" y="1598876"/>
            <a:ext cx="2926080" cy="320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</a:t>
            </a:r>
            <a:endParaRPr lang="en-US" sz="12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33125BD3-276E-CBE9-7A8F-10D4B464B046}"/>
              </a:ext>
            </a:extLst>
          </p:cNvPr>
          <p:cNvSpPr/>
          <p:nvPr/>
        </p:nvSpPr>
        <p:spPr>
          <a:xfrm>
            <a:off x="5532120" y="1918915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 GPS 기반 자동 인증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비용 제로, 24시간 가동</a:t>
            </a:r>
            <a:endParaRPr lang="en-US" sz="900" dirty="0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F30A6577-8737-8076-3D56-0A90522613E5}"/>
              </a:ext>
            </a:extLst>
          </p:cNvPr>
          <p:cNvSpPr/>
          <p:nvPr/>
        </p:nvSpPr>
        <p:spPr>
          <a:xfrm>
            <a:off x="4846320" y="2558995"/>
            <a:ext cx="3840480" cy="914399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9380802D-82DD-5DDD-CE92-8CF50074C4ED}"/>
              </a:ext>
            </a:extLst>
          </p:cNvPr>
          <p:cNvSpPr/>
          <p:nvPr/>
        </p:nvSpPr>
        <p:spPr>
          <a:xfrm>
            <a:off x="4846320" y="2558995"/>
            <a:ext cx="54864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>
            <a:extLst>
              <a:ext uri="{FF2B5EF4-FFF2-40B4-BE49-F238E27FC236}">
                <a16:creationId xmlns:a16="http://schemas.microsoft.com/office/drawing/2014/main" id="{E9088297-30E6-7B29-B3FC-236919D6EF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787594"/>
            <a:ext cx="320040" cy="320039"/>
          </a:xfrm>
          <a:prstGeom prst="rect">
            <a:avLst/>
          </a:prstGeom>
        </p:spPr>
      </p:pic>
      <p:sp>
        <p:nvSpPr>
          <p:cNvPr id="34" name="Text 26">
            <a:extLst>
              <a:ext uri="{FF2B5EF4-FFF2-40B4-BE49-F238E27FC236}">
                <a16:creationId xmlns:a16="http://schemas.microsoft.com/office/drawing/2014/main" id="{0A4D93F6-DA3E-FBB1-2CCA-E6D36D653652}"/>
              </a:ext>
            </a:extLst>
          </p:cNvPr>
          <p:cNvSpPr/>
          <p:nvPr/>
        </p:nvSpPr>
        <p:spPr>
          <a:xfrm>
            <a:off x="5532120" y="2650435"/>
            <a:ext cx="2926080" cy="320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배지 시스템</a:t>
            </a:r>
            <a:endParaRPr lang="en-US" sz="12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32F5F094-0ED8-B1CC-D5ED-8FD308C19114}"/>
              </a:ext>
            </a:extLst>
          </p:cNvPr>
          <p:cNvSpPr/>
          <p:nvPr/>
        </p:nvSpPr>
        <p:spPr>
          <a:xfrm>
            <a:off x="5532120" y="29704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내 배지 수집 + 랭킹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게이미피케이션으로 MZ 참여 극대화</a:t>
            </a:r>
            <a:endParaRPr lang="en-US" sz="90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E9A5FBB-43D1-024E-E426-49277F8CA610}"/>
              </a:ext>
            </a:extLst>
          </p:cNvPr>
          <p:cNvGrpSpPr/>
          <p:nvPr/>
        </p:nvGrpSpPr>
        <p:grpSpPr>
          <a:xfrm>
            <a:off x="548640" y="3610553"/>
            <a:ext cx="8138160" cy="1127099"/>
            <a:chOff x="548640" y="3703318"/>
            <a:chExt cx="8138160" cy="914402"/>
          </a:xfrm>
        </p:grpSpPr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BC25A677-0D78-CA1F-A5D4-D7E19923827E}"/>
                </a:ext>
              </a:extLst>
            </p:cNvPr>
            <p:cNvSpPr/>
            <p:nvPr/>
          </p:nvSpPr>
          <p:spPr>
            <a:xfrm>
              <a:off x="548640" y="3703318"/>
              <a:ext cx="3840480" cy="914399"/>
            </a:xfrm>
            <a:prstGeom prst="rect">
              <a:avLst/>
            </a:prstGeom>
            <a:solidFill>
              <a:srgbClr val="FEF2F2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2F704996-923B-9483-1F6F-F91587EC0500}"/>
                </a:ext>
              </a:extLst>
            </p:cNvPr>
            <p:cNvSpPr/>
            <p:nvPr/>
          </p:nvSpPr>
          <p:spPr>
            <a:xfrm>
              <a:off x="548640" y="3703318"/>
              <a:ext cx="54864" cy="914399"/>
            </a:xfrm>
            <a:prstGeom prst="rect">
              <a:avLst/>
            </a:prstGeom>
            <a:solidFill>
              <a:srgbClr val="DC262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0" name="Image 2" descr="preencoded.png">
              <a:extLst>
                <a:ext uri="{FF2B5EF4-FFF2-40B4-BE49-F238E27FC236}">
                  <a16:creationId xmlns:a16="http://schemas.microsoft.com/office/drawing/2014/main" id="{575EF1FF-1873-7C16-96FD-DC3A578E0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240" y="3931917"/>
              <a:ext cx="320040" cy="320039"/>
            </a:xfrm>
            <a:prstGeom prst="rect">
              <a:avLst/>
            </a:prstGeom>
          </p:spPr>
        </p:pic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8477CA72-5EDF-FAB4-CDA5-94169E021C91}"/>
                </a:ext>
              </a:extLst>
            </p:cNvPr>
            <p:cNvSpPr/>
            <p:nvPr/>
          </p:nvSpPr>
          <p:spPr>
            <a:xfrm>
              <a:off x="1234440" y="3794758"/>
              <a:ext cx="2926080" cy="3200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 err="1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</a:t>
              </a:r>
              <a:r>
                <a:rPr lang="en-US" sz="12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ko-KR" altLang="en-US" sz="1200" b="1" dirty="0">
                  <a:solidFill>
                    <a:srgbClr val="1E293B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관리</a:t>
              </a:r>
              <a:endParaRPr lang="en-US" sz="1200" dirty="0"/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866CAD5D-7D57-EC28-1873-F4693E7C756F}"/>
                </a:ext>
              </a:extLst>
            </p:cNvPr>
            <p:cNvSpPr/>
            <p:nvPr/>
          </p:nvSpPr>
          <p:spPr>
            <a:xfrm>
              <a:off x="1234440" y="4114798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참가자 추적 불가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마케팅/정책 </a:t>
              </a:r>
              <a:r>
                <a:rPr lang="en-US" sz="900" dirty="0" err="1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</a:t>
              </a:r>
              <a:r>
                <a:rPr lang="en-US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900" dirty="0" err="1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부재</a:t>
              </a:r>
              <a:endPara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0" indent="0">
                <a:buNone/>
              </a:pPr>
              <a:r>
                <a:rPr lang="ko-KR" altLang="en-US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운영주체 변동에 따른 운영방법 변동</a:t>
              </a:r>
              <a:r>
                <a:rPr lang="en-US" altLang="ko-KR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, </a:t>
              </a:r>
              <a:r>
                <a:rPr lang="ko-KR" altLang="en-US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통합 불가 </a:t>
              </a:r>
              <a:r>
                <a:rPr lang="en-US" altLang="ko-KR" sz="900" dirty="0">
                  <a:solidFill>
                    <a:srgbClr val="475569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endParaRPr lang="en-US" sz="900" dirty="0"/>
            </a:p>
          </p:txBody>
        </p:sp>
        <p:sp>
          <p:nvSpPr>
            <p:cNvPr id="36" name="Shape 28">
              <a:extLst>
                <a:ext uri="{FF2B5EF4-FFF2-40B4-BE49-F238E27FC236}">
                  <a16:creationId xmlns:a16="http://schemas.microsoft.com/office/drawing/2014/main" id="{6EC9E2E4-B3CB-3D40-903C-D86A9BFD42E3}"/>
                </a:ext>
              </a:extLst>
            </p:cNvPr>
            <p:cNvSpPr/>
            <p:nvPr/>
          </p:nvSpPr>
          <p:spPr>
            <a:xfrm>
              <a:off x="4846320" y="3703320"/>
              <a:ext cx="3840480" cy="914400"/>
            </a:xfrm>
            <a:prstGeom prst="rect">
              <a:avLst/>
            </a:prstGeom>
            <a:solidFill>
              <a:srgbClr val="CCFBF1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29">
              <a:extLst>
                <a:ext uri="{FF2B5EF4-FFF2-40B4-BE49-F238E27FC236}">
                  <a16:creationId xmlns:a16="http://schemas.microsoft.com/office/drawing/2014/main" id="{05374830-D6B0-E38C-383F-B3FD30AE7D77}"/>
                </a:ext>
              </a:extLst>
            </p:cNvPr>
            <p:cNvSpPr/>
            <p:nvPr/>
          </p:nvSpPr>
          <p:spPr>
            <a:xfrm>
              <a:off x="4846320" y="3703319"/>
              <a:ext cx="54864" cy="914400"/>
            </a:xfrm>
            <a:prstGeom prst="rect">
              <a:avLst/>
            </a:prstGeom>
            <a:solidFill>
              <a:srgbClr val="0D9488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38" name="Image 6" descr="preencoded.png">
              <a:extLst>
                <a:ext uri="{FF2B5EF4-FFF2-40B4-BE49-F238E27FC236}">
                  <a16:creationId xmlns:a16="http://schemas.microsoft.com/office/drawing/2014/main" id="{7B6F2FC7-03E4-3693-F9F0-0CE1F8489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74920" y="3931919"/>
              <a:ext cx="320040" cy="320040"/>
            </a:xfrm>
            <a:prstGeom prst="rect">
              <a:avLst/>
            </a:prstGeom>
          </p:spPr>
        </p:pic>
        <p:sp>
          <p:nvSpPr>
            <p:cNvPr id="39" name="Text 30">
              <a:extLst>
                <a:ext uri="{FF2B5EF4-FFF2-40B4-BE49-F238E27FC236}">
                  <a16:creationId xmlns:a16="http://schemas.microsoft.com/office/drawing/2014/main" id="{467BED0E-B4AD-A367-243F-1743D40DC097}"/>
                </a:ext>
              </a:extLst>
            </p:cNvPr>
            <p:cNvSpPr/>
            <p:nvPr/>
          </p:nvSpPr>
          <p:spPr>
            <a:xfrm>
              <a:off x="5532120" y="3794761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실시간 데이터 플랫폼</a:t>
              </a:r>
              <a:endParaRPr lang="en-US" sz="1200" dirty="0"/>
            </a:p>
          </p:txBody>
        </p:sp>
        <p:sp>
          <p:nvSpPr>
            <p:cNvPr id="40" name="Text 31">
              <a:extLst>
                <a:ext uri="{FF2B5EF4-FFF2-40B4-BE49-F238E27FC236}">
                  <a16:creationId xmlns:a16="http://schemas.microsoft.com/office/drawing/2014/main" id="{2EC8488D-3258-0CDB-40CE-CF24260B6CDC}"/>
                </a:ext>
              </a:extLst>
            </p:cNvPr>
            <p:cNvSpPr/>
            <p:nvPr/>
          </p:nvSpPr>
          <p:spPr>
            <a:xfrm>
              <a:off x="5532120" y="4114799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라이딩/관광/탄소 데이터 실시간 축적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ESG 보고서 + 정책 </a:t>
              </a:r>
              <a:r>
                <a:rPr lang="en-US" sz="900" dirty="0" err="1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수립</a:t>
              </a:r>
              <a:r>
                <a:rPr 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900" dirty="0" err="1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활용</a:t>
              </a:r>
              <a:endPara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0" indent="0">
                <a:buNone/>
              </a:pPr>
              <a:r>
                <a:rPr lang="ko-KR" alt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운영체계 수립</a:t>
              </a:r>
              <a:r>
                <a:rPr lang="en-US" altLang="ko-KR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, </a:t>
              </a:r>
              <a:r>
                <a:rPr lang="ko-KR" alt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데이터 통합관리</a:t>
              </a:r>
              <a:endParaRPr lang="en-US" altLang="ko-KR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0" indent="0">
                <a:buNone/>
              </a:pPr>
              <a:r>
                <a:rPr lang="en-US" altLang="ko-KR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CRM</a:t>
              </a:r>
              <a:r>
                <a:rPr lang="ko-KR" altLang="en-US" sz="900" dirty="0" err="1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마테팅</a:t>
              </a:r>
              <a:r>
                <a:rPr lang="ko-KR" altLang="en-US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등 참여 독려 가능 </a:t>
              </a:r>
              <a:r>
                <a:rPr lang="en-US" altLang="ko-KR" sz="900" dirty="0">
                  <a:solidFill>
                    <a:srgbClr val="334155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 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344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제안 1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스탬프 투어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+ 순환코스 연계 스마트 스탬프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 + 구간 랭킹 + SSP 포인트를 하나의 앱에서 통합 제공합니다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508760" y="118872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2801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4688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 진입 자동감지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8036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체크포인트 통과 인증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9184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자동 인증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3320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배지 발급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3383280" y="9601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3383280" y="96012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4343400" y="118872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28016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56616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랭킹 시스템</a:t>
            </a:r>
            <a:endParaRPr lang="en-US" sz="13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468880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93192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코스별 시간 순위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880360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9319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연령대/지역별 랭킹</a:t>
            </a:r>
            <a:endParaRPr lang="en-US" sz="10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291840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9319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시즌별 랭킹 집계</a:t>
            </a:r>
            <a:endParaRPr lang="en-US" sz="10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70332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9319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KOM/QOM 시스템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217920" y="9601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1"/>
          <p:cNvSpPr/>
          <p:nvPr/>
        </p:nvSpPr>
        <p:spPr>
          <a:xfrm>
            <a:off x="6217920" y="9601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2"/>
          <p:cNvSpPr/>
          <p:nvPr/>
        </p:nvSpPr>
        <p:spPr>
          <a:xfrm>
            <a:off x="7178040" y="118872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280160"/>
            <a:ext cx="457200" cy="45720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4008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포인트 적립</a:t>
            </a:r>
            <a:endParaRPr lang="en-US" sz="13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468880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76656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1km당 10포인트 적립</a:t>
            </a:r>
            <a:endParaRPr lang="en-US" sz="10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880360"/>
            <a:ext cx="201168" cy="201168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76656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탄소저감량 자동 계산</a:t>
            </a:r>
            <a:endParaRPr lang="en-US" sz="10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91840"/>
            <a:ext cx="201168" cy="201168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7665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관광지 쿠폰 교환</a:t>
            </a:r>
            <a:endParaRPr lang="en-US" sz="1000" dirty="0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703320"/>
            <a:ext cx="201168" cy="201168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676656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인증서 발급</a:t>
            </a:r>
            <a:endParaRPr lang="en-US" sz="1000" dirty="0"/>
          </a:p>
        </p:txBody>
      </p:sp>
      <p:sp>
        <p:nvSpPr>
          <p:cNvPr id="45" name="Shape 28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29"/>
          <p:cNvSpPr/>
          <p:nvPr/>
        </p:nvSpPr>
        <p:spPr>
          <a:xfrm>
            <a:off x="731520" y="44622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구현: 관광공사 GPX 파일 활용 → 세그먼트 자동 등록 → 스트라바/가민/애플워치 연동으로 기존 이용자 즉시 참여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8개 테마 코스별 디지털 전환과 4단계 리워드 체계로 지속적 참여를 유도합니다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카테고리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카페/맛집 연계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651760" y="137160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83464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1691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해산물 쿠폰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특별 배지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214884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651760" y="214884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83464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468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자전거카페 제휴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29260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3152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난이도 랭킹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51760" y="292608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651760" y="29260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83464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장거리 챌린지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70332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48640" y="37033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3152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오디오 가이드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51760" y="3703320"/>
            <a:ext cx="19202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651760" y="370332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83464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힐링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83464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웰니스 연계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 수집 리워드 체계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1371600"/>
            <a:ext cx="37490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846320" y="137160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02920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그랜드슬래머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순환코스 전체  |  SSP 30,000P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83480" y="2240280"/>
            <a:ext cx="34747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983480" y="2240280"/>
            <a:ext cx="73152" cy="7315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16636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골드 라이더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6636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60개 완주  |  SSP 15,000P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20640" y="3108960"/>
            <a:ext cx="3200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120640" y="3108960"/>
            <a:ext cx="73152" cy="7315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30352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실버 라이더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03520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30개 완주  |  SSP 5,000P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57800" y="3977640"/>
            <a:ext cx="292608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5257800" y="3977640"/>
            <a:ext cx="73152" cy="73152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544068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브론즈 라이더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406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완주  |  SSP 1,500P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46320" y="4572000"/>
            <a:ext cx="3749040" cy="32004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84632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→ 재방문 → 완주 → 지역경제 활성화 선순환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제안 2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파크런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같은 시간, 같은 장소 - 대한민국 자전거 파크런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1,100만 명이 참여하는 파크런 모델을 자전거 + 관광에 최적화합니다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파크런(parkrun) 글로벌 성과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1417320"/>
          <a:ext cx="164592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256032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23개국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국가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참가자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6032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490개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호주 장소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603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WHO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모범 사례 인정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46320" y="960120"/>
            <a:ext cx="3840480" cy="182880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한국형 자전거 파크런 적용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토요일 5km 달리기</a:t>
            </a:r>
            <a:endParaRPr lang="en-US" sz="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499616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토요일 대표코스 라이딩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029200" y="17739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바코드</a:t>
            </a:r>
            <a:endParaRPr lang="en-US" sz="8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10512"/>
            <a:ext cx="164592" cy="1645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2280" y="1773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자동 인증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029200" y="2084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 결과표</a:t>
            </a:r>
            <a:endParaRPr lang="en-US" sz="8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21408"/>
            <a:ext cx="164592" cy="16459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80" y="2084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리더보드 + 랭킹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5029200" y="2395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참가</a:t>
            </a:r>
            <a:endParaRPr lang="en-US" sz="8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432304"/>
            <a:ext cx="164592" cy="16459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12280" y="2395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+ SSP 포인트 적립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1: 파일럿 5개 거점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548640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6"/>
          <p:cNvSpPr/>
          <p:nvPr/>
        </p:nvSpPr>
        <p:spPr>
          <a:xfrm>
            <a:off x="548640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/>
          <p:nvPr/>
        </p:nvSpPr>
        <p:spPr>
          <a:xfrm>
            <a:off x="548640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한강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48640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여의도~반포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548640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15km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548640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최고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2231136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2231136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/>
          <p:nvPr/>
        </p:nvSpPr>
        <p:spPr>
          <a:xfrm>
            <a:off x="2231136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춘천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2231136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의암호 순환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2231136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20km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2231136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협력지역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3913632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3913632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9"/>
          <p:cNvSpPr/>
          <p:nvPr/>
        </p:nvSpPr>
        <p:spPr>
          <a:xfrm>
            <a:off x="3913632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경주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3913632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역사유적길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3913632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26km</a:t>
            </a:r>
            <a:endParaRPr lang="en-US" sz="1500" dirty="0"/>
          </a:p>
        </p:txBody>
      </p:sp>
      <p:sp>
        <p:nvSpPr>
          <p:cNvPr id="49" name="Text 42"/>
          <p:cNvSpPr/>
          <p:nvPr/>
        </p:nvSpPr>
        <p:spPr>
          <a:xfrm>
            <a:off x="3913632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역사+자전거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5596128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4"/>
          <p:cNvSpPr/>
          <p:nvPr/>
        </p:nvSpPr>
        <p:spPr>
          <a:xfrm>
            <a:off x="5596128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5"/>
          <p:cNvSpPr/>
          <p:nvPr/>
        </p:nvSpPr>
        <p:spPr>
          <a:xfrm>
            <a:off x="5596128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제주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5596128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해안도로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5596128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20km</a:t>
            </a:r>
            <a:endParaRPr lang="en-US" sz="1500" dirty="0"/>
          </a:p>
        </p:txBody>
      </p:sp>
      <p:sp>
        <p:nvSpPr>
          <p:cNvPr id="55" name="Text 48"/>
          <p:cNvSpPr/>
          <p:nvPr/>
        </p:nvSpPr>
        <p:spPr>
          <a:xfrm>
            <a:off x="5596128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관광수요 최고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7278624" y="342900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0"/>
          <p:cNvSpPr/>
          <p:nvPr/>
        </p:nvSpPr>
        <p:spPr>
          <a:xfrm>
            <a:off x="7278624" y="342900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1"/>
          <p:cNvSpPr/>
          <p:nvPr/>
        </p:nvSpPr>
        <p:spPr>
          <a:xfrm>
            <a:off x="7278624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부산</a:t>
            </a:r>
            <a:endParaRPr lang="en-US" sz="1200" dirty="0"/>
          </a:p>
        </p:txBody>
      </p:sp>
      <p:sp>
        <p:nvSpPr>
          <p:cNvPr id="59" name="Text 52"/>
          <p:cNvSpPr/>
          <p:nvPr/>
        </p:nvSpPr>
        <p:spPr>
          <a:xfrm>
            <a:off x="7278624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낙동강 하구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7278624" y="4023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15km</a:t>
            </a:r>
            <a:endParaRPr lang="en-US" sz="1500" dirty="0"/>
          </a:p>
        </p:txBody>
      </p:sp>
      <p:sp>
        <p:nvSpPr>
          <p:cNvPr id="61" name="Text 54"/>
          <p:cNvSpPr/>
          <p:nvPr/>
        </p:nvSpPr>
        <p:spPr>
          <a:xfrm>
            <a:off x="7278624" y="43434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남부권 거점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"대한민국 한 바퀴" 2,237km 그랜드슬램으로 전국 재방문 유도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완주 캠페인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411480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캠페인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거리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리워드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국토종주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633km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6,330P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4대강 종주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8,000P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동해안 종주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318km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3,180P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제주 일주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234km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2,340P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그랜드슬램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2,237km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SSP 22,370P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93776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랭킹 시스템 (스트라바 영감)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1325880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35608"/>
            <a:ext cx="292608" cy="292608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5486400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 킹/퀸 (KOR/QOR)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0" y="16184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남/녀 최단 시간 기록 보유자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937760" y="1984248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09397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 라이더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86400" y="22768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90일 내 최다 완주자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937760" y="2642616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75234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연령대/지역별 순위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0" y="29352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20대~50대+ / 시도별 필터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937760" y="3300984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41071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86400" y="3346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랭킹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86400" y="35935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분기별 종합 순위 + 시상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937760" y="3959352"/>
            <a:ext cx="374904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406908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0" y="4005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동호회 대항전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486400" y="4251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랭킹으로 단체 참여 유도</a:t>
            </a:r>
            <a:endParaRPr lang="en-US" sz="9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548640" y="3794760"/>
          <a:ext cx="411480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제안 3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협업 친환경 캠페인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라이딩으로 지구를 지키다 - 탄소저감 캠페인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3개의 ESG 캠페인으로 탄소저감 성과를 정량화하고 지역경제를 활성화합니다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1km 라이딩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051560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저감량 자동계산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05156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10P 자동적립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5156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6656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쿠폰/용품 교환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48640" y="155448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548640" y="155448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 Ride Korea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3152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국가 탄소저감 라이딩 캠페인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60선 라이딩 시 탄소저감량 자동 집계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7315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실시간 대시보드 공개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315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100톤 CO₂ 저감 목표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383280" y="155448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69164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319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Zero Carbon Tour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56616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 제로 여행 인증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35661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자전거로만 여행 시 인증 배지 발급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356616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품질인증 업소 방문 추가 포인트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35661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보고서 실적 반영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217920" y="155448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6217920" y="15544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69164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Ride for Local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0080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지역경제 활성화 캠페인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64008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후 지역 SSP 쿠폰 자동 발급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지역별 관광 기여도 분석 리포트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40080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춘천마라톤: 숙박 +61.8% 벤치마크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성과 측정 체계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17520" y="3840480"/>
          <a:ext cx="5669280" cy="853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지표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측정 방식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주기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탄소저감량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SSP 자동 집계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월간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참가자 수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앱 + 이벤트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월간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지역경제 기여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쿠폰 데이터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분기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 GPX 데이터를 활용하여 약 6주 내 시스템 구축 가능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37160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접점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10312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 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9476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79476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스트라바 연동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가민/애플워치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78040" y="100584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178040" y="1005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 홈페이지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1920240"/>
            <a:ext cx="1371600" cy="77724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1920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시스템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10312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매칭/세그먼트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9476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79476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포인트 엔진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 리더보드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19659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17804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스탬프/배지 관리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69748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48640" y="2880360"/>
            <a:ext cx="1371600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48640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10312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탄소저감 자동계산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9476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79476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 기여도 분석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48640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 패턴 분석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78040" y="292608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178040" y="2926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대시보드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3886200"/>
            <a:ext cx="804672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4864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GPX 데이터 활용 로드맵 (약 6주)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8872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18872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2296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GPX 임포트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00200" y="4462272"/>
            <a:ext cx="173736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333756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33756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2-3주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97180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세그먼트 변환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749040" y="4462272"/>
            <a:ext cx="173736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48640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48640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12064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체크포인트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897880" y="4462272"/>
            <a:ext cx="173736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7635240" y="42519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6352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5-6주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26948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라이딩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Q2 기획, Q3 파일럿, 2027년 전국 확대 - 10만 명 참가 목표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96596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기획/개발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Q2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MOU 체결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세그먼트 개발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 시스템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거점 답사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기획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143000"/>
            <a:ext cx="182880" cy="18288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2697480" y="1005840"/>
            <a:ext cx="1965960" cy="6400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3"/>
          <p:cNvSpPr/>
          <p:nvPr/>
        </p:nvSpPr>
        <p:spPr>
          <a:xfrm>
            <a:off x="269748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런칭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269748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Q3</a:t>
            </a:r>
            <a:endParaRPr lang="en-US" sz="9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87452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0175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스탬프 베타 오픈</a:t>
            </a:r>
            <a:endParaRPr lang="en-US" sz="9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24028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01752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 첫 개최</a:t>
            </a:r>
            <a:endParaRPr lang="en-US" sz="9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60604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01752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 시스템</a:t>
            </a:r>
            <a:endParaRPr lang="en-US" sz="9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2971800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01752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 Ride 런칭</a:t>
            </a:r>
            <a:endParaRPr lang="en-US" sz="9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3337560"/>
            <a:ext cx="182880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01752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미디어 PR</a:t>
            </a:r>
            <a:endParaRPr lang="en-US" sz="9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43000"/>
            <a:ext cx="182880" cy="182880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4846320" y="1005840"/>
            <a:ext cx="1965960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1"/>
          <p:cNvSpPr/>
          <p:nvPr/>
        </p:nvSpPr>
        <p:spPr>
          <a:xfrm>
            <a:off x="484632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endParaRPr lang="en-US" sz="1200" dirty="0"/>
          </a:p>
        </p:txBody>
      </p:sp>
      <p:sp>
        <p:nvSpPr>
          <p:cNvPr id="36" name="Text 22"/>
          <p:cNvSpPr/>
          <p:nvPr/>
        </p:nvSpPr>
        <p:spPr>
          <a:xfrm>
            <a:off x="484632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Q4</a:t>
            </a:r>
            <a:endParaRPr lang="en-US" sz="9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74520"/>
            <a:ext cx="182880" cy="1828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16636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거점 정식 운영</a:t>
            </a:r>
            <a:endParaRPr lang="en-US" sz="9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40280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16636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캠페인 가동</a:t>
            </a:r>
            <a:endParaRPr lang="en-US" sz="90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06040"/>
            <a:ext cx="182880" cy="18288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16636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시즌1 시상</a:t>
            </a:r>
            <a:endParaRPr lang="en-US" sz="9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971800"/>
            <a:ext cx="182880" cy="18288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1663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보고서</a:t>
            </a:r>
            <a:endParaRPr lang="en-US" sz="9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37560"/>
            <a:ext cx="182880" cy="182880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516636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 계획</a:t>
            </a:r>
            <a:endParaRPr lang="en-US" sz="900" dirty="0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143000"/>
            <a:ext cx="182880" cy="182880"/>
          </a:xfrm>
          <a:prstGeom prst="rect">
            <a:avLst/>
          </a:prstGeom>
        </p:spPr>
      </p:pic>
      <p:sp>
        <p:nvSpPr>
          <p:cNvPr id="48" name="Shape 28"/>
          <p:cNvSpPr/>
          <p:nvPr/>
        </p:nvSpPr>
        <p:spPr>
          <a:xfrm>
            <a:off x="6995160" y="1005840"/>
            <a:ext cx="196596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29"/>
          <p:cNvSpPr/>
          <p:nvPr/>
        </p:nvSpPr>
        <p:spPr>
          <a:xfrm>
            <a:off x="6995160" y="1005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확대</a:t>
            </a:r>
            <a:endParaRPr lang="en-US" sz="1200" dirty="0"/>
          </a:p>
        </p:txBody>
      </p:sp>
      <p:sp>
        <p:nvSpPr>
          <p:cNvPr id="50" name="Text 30"/>
          <p:cNvSpPr/>
          <p:nvPr/>
        </p:nvSpPr>
        <p:spPr>
          <a:xfrm>
            <a:off x="6995160" y="1325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</a:t>
            </a:r>
            <a:endParaRPr lang="en-US" sz="900" dirty="0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874520"/>
            <a:ext cx="182880" cy="182880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731520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20개 거점 확대</a:t>
            </a:r>
            <a:endParaRPr lang="en-US" sz="900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40280"/>
            <a:ext cx="182880" cy="182880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731520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60선 전체 전환</a:t>
            </a:r>
            <a:endParaRPr lang="en-US" sz="900" dirty="0"/>
          </a:p>
        </p:txBody>
      </p:sp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606040"/>
            <a:ext cx="182880" cy="182880"/>
          </a:xfrm>
          <a:prstGeom prst="rect">
            <a:avLst/>
          </a:prstGeom>
        </p:spPr>
      </p:pic>
      <p:sp>
        <p:nvSpPr>
          <p:cNvPr id="56" name="Text 33"/>
          <p:cNvSpPr/>
          <p:nvPr/>
        </p:nvSpPr>
        <p:spPr>
          <a:xfrm>
            <a:off x="731520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그랜드슬램</a:t>
            </a:r>
            <a:endParaRPr lang="en-US" sz="900" dirty="0"/>
          </a:p>
        </p:txBody>
      </p:sp>
      <p:pic>
        <p:nvPicPr>
          <p:cNvPr id="57" name="Image 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971800"/>
            <a:ext cx="182880" cy="182880"/>
          </a:xfrm>
          <a:prstGeom prst="rect">
            <a:avLst/>
          </a:prstGeom>
        </p:spPr>
      </p:pic>
      <p:sp>
        <p:nvSpPr>
          <p:cNvPr id="58" name="Text 34"/>
          <p:cNvSpPr/>
          <p:nvPr/>
        </p:nvSpPr>
        <p:spPr>
          <a:xfrm>
            <a:off x="73152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인바운드 유치</a:t>
            </a:r>
            <a:endParaRPr lang="en-US" sz="900" dirty="0"/>
          </a:p>
        </p:txBody>
      </p:sp>
      <p:pic>
        <p:nvPicPr>
          <p:cNvPr id="59" name="Image 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337560"/>
            <a:ext cx="182880" cy="182880"/>
          </a:xfrm>
          <a:prstGeom prst="rect">
            <a:avLst/>
          </a:prstGeom>
        </p:spPr>
      </p:pic>
      <p:sp>
        <p:nvSpPr>
          <p:cNvPr id="60" name="Text 35"/>
          <p:cNvSpPr/>
          <p:nvPr/>
        </p:nvSpPr>
        <p:spPr>
          <a:xfrm>
            <a:off x="7315200" y="3291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연간보고</a:t>
            </a:r>
            <a:endParaRPr lang="en-US" sz="900" dirty="0"/>
          </a:p>
        </p:txBody>
      </p:sp>
      <p:sp>
        <p:nvSpPr>
          <p:cNvPr id="61" name="Text 36"/>
          <p:cNvSpPr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참가자 목표</a:t>
            </a:r>
            <a:endParaRPr lang="en-US" sz="1100" dirty="0"/>
          </a:p>
        </p:txBody>
      </p:sp>
      <p:graphicFrame>
        <p:nvGraphicFramePr>
          <p:cNvPr id="62" name="Chart 0"/>
          <p:cNvGraphicFramePr/>
          <p:nvPr/>
        </p:nvGraphicFramePr>
        <p:xfrm>
          <a:off x="548640" y="3840480"/>
          <a:ext cx="822960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 활성화 → 지역경제 → 탄소 저감 → 국민 건강 선순환 실현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활성화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300%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3152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이용률 향상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8328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1887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MZ세대 유입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6616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5만 명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356616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 신규 참가자 목표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217920" y="10058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887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1188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지역경제 활성화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40080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+61.8%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64008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숙박업 매출 증가 벤치마크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864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54864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175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ESG 탄소저감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3152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100톤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73152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CO₂ 저감 목표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38328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338328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01752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233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 확보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56616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실시간</a:t>
            </a:r>
            <a:endParaRPr lang="en-US" sz="2800" dirty="0"/>
          </a:p>
        </p:txBody>
      </p:sp>
      <p:sp>
        <p:nvSpPr>
          <p:cNvPr id="35" name="Text 28"/>
          <p:cNvSpPr/>
          <p:nvPr/>
        </p:nvSpPr>
        <p:spPr>
          <a:xfrm>
            <a:off x="356616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데이터 축적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217920" y="28346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6217920" y="283464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01752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580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인바운드 관광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40080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글로벌</a:t>
            </a:r>
            <a:endParaRPr lang="en-US" sz="2800" dirty="0"/>
          </a:p>
        </p:txBody>
      </p:sp>
      <p:sp>
        <p:nvSpPr>
          <p:cNvPr id="41" name="Text 33"/>
          <p:cNvSpPr/>
          <p:nvPr/>
        </p:nvSpPr>
        <p:spPr>
          <a:xfrm>
            <a:off x="64008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 브랜드 해외 유치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관광공사는 콘텐츠와 채널을, 라이트브라더스는 기술과 운영을 담당합니다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한국관광공사 제공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GPX 데이터 (60선 + 순환코스)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 콘텐츠 API 연동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 브랜딩 로고/마케팅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8036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홍보 채널 (홈페이지/SNS)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배지랜드 시스템 연계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0332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품질인증 업소 쿠폰 협의</a:t>
            </a:r>
            <a:endParaRPr lang="en-US" sz="1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5156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지자체 협력 중재</a:t>
            </a:r>
            <a:endParaRPr lang="en-US" sz="10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377440"/>
            <a:ext cx="640080" cy="64008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4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 제공</a:t>
            </a:r>
            <a:endParaRPr lang="en-US" sz="14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201168" cy="20116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49240" y="1600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플랫폼 전체 개발/운영</a:t>
            </a:r>
            <a:endParaRPr lang="en-US" sz="10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057400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4924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SSP 포인트 인프라</a:t>
            </a:r>
            <a:endParaRPr lang="en-US" sz="10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68880"/>
            <a:ext cx="201168" cy="20116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34924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스트라바/가민 연동 기술</a:t>
            </a:r>
            <a:endParaRPr lang="en-US" sz="10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880360"/>
            <a:ext cx="201168" cy="20116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34924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 리포트</a:t>
            </a:r>
            <a:endParaRPr lang="en-US" sz="10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91840"/>
            <a:ext cx="201168" cy="2011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34924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파크런 이벤트 기획/운영</a:t>
            </a:r>
            <a:endParaRPr lang="en-US" sz="100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03320"/>
            <a:ext cx="201168" cy="201168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53492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동호회 네트워크</a:t>
            </a:r>
            <a:endParaRPr lang="en-US" sz="10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114800"/>
            <a:ext cx="201168" cy="201168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34924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개발비 4억 원 부담</a:t>
            </a:r>
            <a:endParaRPr lang="en-US" sz="1000" dirty="0"/>
          </a:p>
        </p:txBody>
      </p:sp>
      <p:sp>
        <p:nvSpPr>
          <p:cNvPr id="39" name="Shape 2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관광공사의 콘텐츠/네트워크 + 라이트브라더스의 기술/커뮤니티 = 최적의 시너지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성공 사례가 증명하는 자전거+디지털+커뮤니티 모델의 가능성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parkrun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 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무료 5km 러닝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모범 사례 인정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697480" y="100584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69748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Strava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1.8억 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88036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구간 랭킹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기업가치 3조 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Komoot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유럽 1위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아웃도어 코스 + 내비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유럽 자전거 관광 선도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95160" y="1005840"/>
            <a:ext cx="1965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995160" y="100584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99516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EuroVelo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95160" y="19659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93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90,000km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78040" y="25603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17개 루트 네트워크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유럽 자전거 관광 인프라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31520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+ 정기적 + 커뮤니티 = 대규모 참여 (parkrun 검증)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GPS 기반 구간 랭킹은 이미 1.8억 명이 사용 (Strava 검증)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한국은 인프라(27,754km) + 디지털 역량 + 관광 콘텐츠를 모두 갖춘 최적의 시장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34E4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자전거로 대한민국을 달리며,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관광을 즐기고, 탄소를 줄이는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여행 문화를 함께 만들어가겠습니다.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라이트브라더스</a:t>
            </a:r>
            <a:r>
              <a:rPr lang="ko-KR" altLang="en-US" sz="1600" b="1" dirty="0">
                <a:solidFill>
                  <a:srgbClr val="5EEA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8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1차년도 6.5억 원 투자 대비 3.1억 원 수익, 2차년도 BEP 목표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비용 추정 (1차년도)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188720"/>
          <a:ext cx="25603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713853"/>
              </p:ext>
            </p:extLst>
          </p:nvPr>
        </p:nvGraphicFramePr>
        <p:xfrm>
          <a:off x="3108960" y="1234440"/>
          <a:ext cx="4114800" cy="13411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금액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분담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시스템 개발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2.0억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협의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앱 고도화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1.5억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협의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이벤트/ESG/마케팅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2.5억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협의</a:t>
                      </a:r>
                      <a:endParaRPr lang="en-US" altLang="ko-KR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SSP 원가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**억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dirty="0"/>
                        <a:t>협의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합계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6억 원+</a:t>
                      </a: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@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8463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 (1차년도)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548640" y="3566160"/>
          <a:ext cx="41148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6"/>
          <p:cNvSpPr/>
          <p:nvPr/>
        </p:nvSpPr>
        <p:spPr>
          <a:xfrm>
            <a:off x="4937760" y="3657600"/>
            <a:ext cx="3657600" cy="1280160"/>
          </a:xfrm>
          <a:prstGeom prst="rect">
            <a:avLst/>
          </a:prstGeom>
          <a:solidFill>
            <a:srgbClr val="CCFBF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/>
          <p:nvPr/>
        </p:nvSpPr>
        <p:spPr>
          <a:xfrm>
            <a:off x="512064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대비 기대 효과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120640" y="40690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5만 명 신규 유입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대표코스 60선 인지도 300% 향상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100톤 CO₂ 저감 (ESG 활용)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자전거 관광 빅데이터 확보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Pretendard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Pretendard"/>
        <a:font script="Hebr" typeface="Pretendar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Pretendard"/>
        <a:font script="Uigh" typeface="Microsoft Uighur"/>
        <a:font script="Geor" typeface="Sylfaen"/>
        <a:font script="Armn" typeface="Pretendard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1380</Words>
  <Application>Microsoft Office PowerPoint</Application>
  <PresentationFormat>화면 슬라이드 쇼(16:9)</PresentationFormat>
  <Paragraphs>408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</vt:lpstr>
      <vt:lpstr>Pretendard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한국관광공사 x 라이트브라더스 사업제안서</dc:title>
  <dc:subject>PptxGenJS Presentation</dc:subject>
  <dc:creator>라이트브라더스</dc:creator>
  <cp:lastModifiedBy>김 병수</cp:lastModifiedBy>
  <cp:revision>5</cp:revision>
  <dcterms:created xsi:type="dcterms:W3CDTF">2026-03-23T03:05:59Z</dcterms:created>
  <dcterms:modified xsi:type="dcterms:W3CDTF">2026-03-25T16:27:07Z</dcterms:modified>
</cp:coreProperties>
</file>