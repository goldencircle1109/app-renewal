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Pretendard"/>
              </a:defRPr>
            </a:pPr>
            <a:r>
              <a:rPr sz="1000" b="0" i="0" u="none" strike="noStrike">
                <a:solidFill>
                  <a:srgbClr val="334155"/>
                </a:solidFill>
                <a:latin typeface="Pretendard"/>
              </a:rPr>
              <a:t>대표코스 60선 권역별 분포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코스 수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서울/경기/강원</c:v>
                  </c:pt>
                  <c:pt idx="1">
                    <c:v>대전/세종/충청</c:v>
                  </c:pt>
                  <c:pt idx="2">
                    <c:v>대구/경북</c:v>
                  </c:pt>
                  <c:pt idx="3">
                    <c:v>광주/전라</c:v>
                  </c:pt>
                  <c:pt idx="4">
                    <c:v>부산/경남</c:v>
                  </c:pt>
                  <c:pt idx="5">
                    <c:v>제주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</c:v>
                </c:pt>
                <c:pt idx="1">
                  <c:v>9</c:v>
                </c:pt>
                <c:pt idx="2">
                  <c:v>6</c:v>
                </c:pt>
                <c:pt idx="3">
                  <c:v>10</c:v>
                </c:pt>
                <c:pt idx="4">
                  <c:v>12</c:v>
                </c:pt>
                <c:pt idx="5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분포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Pretendard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호주</c:v>
                </c:pt>
                <c:pt idx="1">
                  <c:v>영국</c:v>
                </c:pt>
                <c:pt idx="2">
                  <c:v>기타 21개국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100</c:v>
                </c:pt>
                <c:pt idx="1">
                  <c:v>500</c:v>
                </c:pt>
                <c:pt idx="2">
                  <c:v>500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거리(km)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34155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국토종주</c:v>
                  </c:pt>
                  <c:pt idx="1">
                    <c:v>동해안(강원)</c:v>
                  </c:pt>
                  <c:pt idx="2">
                    <c:v>제주환상</c:v>
                  </c:pt>
                  <c:pt idx="3">
                    <c:v>금강</c:v>
                  </c:pt>
                  <c:pt idx="4">
                    <c:v>섬진강</c:v>
                  </c:pt>
                  <c:pt idx="5">
                    <c:v>영산강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633</c:v>
                </c:pt>
                <c:pt idx="1">
                  <c:v>242</c:v>
                </c:pt>
                <c:pt idx="2">
                  <c:v>234</c:v>
                </c:pt>
                <c:pt idx="3">
                  <c:v>146</c:v>
                </c:pt>
                <c:pt idx="4">
                  <c:v>149</c:v>
                </c:pt>
                <c:pt idx="5">
                  <c:v>133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334155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참가자(명)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파일럿 2026</c:v>
                  </c:pt>
                  <c:pt idx="1">
                    <c:v>확장1 2027상</c:v>
                  </c:pt>
                  <c:pt idx="2">
                    <c:v>확장2 2027하</c:v>
                  </c:pt>
                  <c:pt idx="3">
                    <c:v>안정화 2028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20</c:v>
                </c:pt>
                <c:pt idx="2">
                  <c:v>50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비용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bubble3D val="0"/>
            <c:spPr>
              <a:solidFill>
                <a:srgbClr val="0891B2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</c:dPt>
          <c:dPt>
            <c:idx val="5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Pretendard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시스템 개발</c:v>
                </c:pt>
                <c:pt idx="1">
                  <c:v>앱 고도화</c:v>
                </c:pt>
                <c:pt idx="2">
                  <c:v>이벤트 운영</c:v>
                </c:pt>
                <c:pt idx="3">
                  <c:v>ESG 캠페인</c:v>
                </c:pt>
                <c:pt idx="4">
                  <c:v>마케팅/PR</c:v>
                </c:pt>
                <c:pt idx="5">
                  <c:v>SSP 원가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</c:v>
                </c:pt>
                <c:pt idx="1">
                  <c:v>1.5</c:v>
                </c:pt>
                <c:pt idx="2">
                  <c:v>1</c:v>
                </c:pt>
                <c:pt idx="3">
                  <c:v>0.5</c:v>
                </c:pt>
                <c:pt idx="4">
                  <c:v>1</c:v>
                </c:pt>
                <c:pt idx="5">
                  <c:v>0.5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수익(억원)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스폰서십</c:v>
                  </c:pt>
                  <c:pt idx="1">
                    <c:v>프리미엄 구독</c:v>
                  </c:pt>
                  <c:pt idx="2">
                    <c:v>커머스</c:v>
                  </c:pt>
                  <c:pt idx="3">
                    <c:v>데이터 사업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</c:v>
                </c:pt>
                <c:pt idx="1">
                  <c:v>0.5</c:v>
                </c:pt>
                <c:pt idx="2">
                  <c:v>0.8</c:v>
                </c:pt>
                <c:pt idx="3">
                  <c:v>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Pretendard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Pretendard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Pretendard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Pretendard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Pretendard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Pretendard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Pretendard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Pretendard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Pretendard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image" Target="../media/image-9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6" Type="http://schemas.openxmlformats.org/officeDocument/2006/relationships/chart" Target="/ppt/charts/chart3.xm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24" Type="http://schemas.openxmlformats.org/officeDocument/2006/relationships/chart" Target="/ppt/charts/chart4.xm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png"/><Relationship Id="rId23" Type="http://schemas.openxmlformats.org/officeDocument/2006/relationships/image" Target="../media/image-14-23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BUSINESS PROPOSAL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한국관광공사 x 라이트브라더스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사업제안서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"대한민국 자전거 파크런"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스탬프 투어  x  구간 랭킹  x  ESG 캠페인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제안사: (주)라이트브라더스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수신: 한국관광공사 지역콘텐츠육성팀 심경섭님  |  2026.03.19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4630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달릴수록 포인트가 쌓이고, 지역 관광이 활성화되고, 탄소가 줄어드는 선순환 플랫폼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2606040" cy="109728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051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대표코스 60선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순환코스 스탬프 투어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627632"/>
            <a:ext cx="228600" cy="228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228600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8640" y="228600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스탬프 투어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31520" y="2880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대표코스 60선 GPS 자동 인증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구간 랭킹 시스템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337560" y="1005840"/>
            <a:ext cx="2606040" cy="109728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0972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31920" y="1051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전국 순환코스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완주 캠페인</a:t>
            </a:r>
            <a:endParaRPr lang="en-US" sz="9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627632"/>
            <a:ext cx="228600" cy="2286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337560" y="228600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3337560" y="228600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4"/>
          <p:cNvSpPr/>
          <p:nvPr/>
        </p:nvSpPr>
        <p:spPr>
          <a:xfrm>
            <a:off x="3520440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 파크런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3520440" y="2880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정기 라이딩 이벤트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완주 챌린지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126480" y="1005840"/>
            <a:ext cx="2606040" cy="109728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09728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720840" y="1051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협업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친환경 캠페인</a:t>
            </a:r>
            <a:endParaRPr lang="en-US" sz="9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1627632"/>
            <a:ext cx="228600" cy="22860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126480" y="228600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126480" y="228600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0"/>
          <p:cNvSpPr/>
          <p:nvPr/>
        </p:nvSpPr>
        <p:spPr>
          <a:xfrm>
            <a:off x="6309360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탄소저감 캠페인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6309360" y="2880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SSP 탄소저감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마일리지 보상 체계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548640" y="4206240"/>
            <a:ext cx="8046720" cy="59436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1" name="Text 23"/>
          <p:cNvSpPr/>
          <p:nvPr/>
        </p:nvSpPr>
        <p:spPr>
          <a:xfrm>
            <a:off x="731520" y="42519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관광공사의 3가지 요청사항을 SSP 시스템 + 파크런 모델로 통합 해결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세계적 수준의 자전거 인프라를 보유하고 있으나, 디지털 전환이 미흡합니다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27,754km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자전거도로 총연장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전년 대비 +3.3%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1760" y="100584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2,237km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5176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국토종주 자전거길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 노선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0584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506만명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75488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따릉이 누적 회원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공공자전거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0" y="100584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60개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85800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대표코스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2024.12 문체부 발표</a:t>
            </a:r>
            <a:endParaRPr lang="en-US" sz="9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548640" y="2743200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Shape 24"/>
          <p:cNvSpPr/>
          <p:nvPr/>
        </p:nvSpPr>
        <p:spPr>
          <a:xfrm>
            <a:off x="5029200" y="2743200"/>
            <a:ext cx="3657600" cy="210312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21208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전환 기회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212080" y="32461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인프라는 갖추었으나 디지털 서비스 부재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스탬프 기반 인증 → MZ세대 참여 저조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라이딩 데이터 축적 불가 → 정책 수립 한계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탄소저감 효과 미측정 → ESG 활용 불가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스탬프 투어의 3가지 핵심 문제를 디지털 전환으로 해결합니다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AS-IS: 현재 한계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3840480" cy="9144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00200"/>
            <a:ext cx="54864" cy="9144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물리적 스탬프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3444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인증센터 운영 비용, 위치 제약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 인력 상시 필요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2651760"/>
            <a:ext cx="3840480" cy="9144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2651760"/>
            <a:ext cx="54864" cy="9144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8036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34440" y="2743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스탬프북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23444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분실 위험, 데이터 축적 불가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MZ세대 참여 저조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48640" y="3703320"/>
            <a:ext cx="3840480" cy="9144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3703320"/>
            <a:ext cx="54864" cy="9144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3192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3444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부재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234440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참가자 추적 불가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마케팅/정책 데이터 부재</a:t>
            </a:r>
            <a:endParaRPr lang="en-US" sz="9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560320"/>
            <a:ext cx="320040" cy="32004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19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TO-BE: 디지털 전환 솔루션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846320" y="1600200"/>
            <a:ext cx="3840480" cy="91440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846320" y="160020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82880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3212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GPS 자동 인증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53212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스마트폰 GPS 기반 자동 인증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비용 제로, 24시간 가동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4846320" y="2651760"/>
            <a:ext cx="3840480" cy="91440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846320" y="265176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880360"/>
            <a:ext cx="320040" cy="32004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532120" y="2743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배지 시스템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53212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 내 배지 수집 + 랭킹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게이미피케이션으로 MZ 참여 극대화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4846320" y="3703320"/>
            <a:ext cx="3840480" cy="91440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846320" y="370332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3931920"/>
            <a:ext cx="320040" cy="32004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53212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데이터 플랫폼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5532120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라이딩/관광/탄소 데이터 실시간 축적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보고서 + 정책 수립 활용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34E4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제안 1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스탬프 투어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대표코스 60선 + 순환코스 연계 스마트 스탬프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GPS 자동 인증 + 구간 랭킹 + SSP 포인트를 하나의 앱에서 통합 제공합니다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6012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1508760" y="118872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2801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GPS 자동 인증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6888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코스 진입 자동감지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8036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체크포인트 통과 인증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91840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완주 자동 인증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703320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배지 발급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3383280" y="9601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3383280" y="960120"/>
            <a:ext cx="26517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Shape 14"/>
          <p:cNvSpPr/>
          <p:nvPr/>
        </p:nvSpPr>
        <p:spPr>
          <a:xfrm>
            <a:off x="4343400" y="118872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1280160"/>
            <a:ext cx="457200" cy="4572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56616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구간 랭킹 시스템</a:t>
            </a:r>
            <a:endParaRPr lang="en-US" sz="13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2468880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93192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코스별 시간 순위</a:t>
            </a:r>
            <a:endParaRPr lang="en-US" sz="10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2880360"/>
            <a:ext cx="201168" cy="20116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93192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연령대/지역별 랭킹</a:t>
            </a:r>
            <a:endParaRPr lang="en-US" sz="10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0" y="3291840"/>
            <a:ext cx="201168" cy="20116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393192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시즌별 랭킹 집계</a:t>
            </a:r>
            <a:endParaRPr lang="en-US" sz="10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0" y="3703320"/>
            <a:ext cx="201168" cy="20116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393192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KOM/QOM 시스템</a:t>
            </a:r>
            <a:endParaRPr lang="en-US" sz="1000" dirty="0"/>
          </a:p>
        </p:txBody>
      </p:sp>
      <p:sp>
        <p:nvSpPr>
          <p:cNvPr id="32" name="Shape 20"/>
          <p:cNvSpPr/>
          <p:nvPr/>
        </p:nvSpPr>
        <p:spPr>
          <a:xfrm>
            <a:off x="6217920" y="9601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1"/>
          <p:cNvSpPr/>
          <p:nvPr/>
        </p:nvSpPr>
        <p:spPr>
          <a:xfrm>
            <a:off x="6217920" y="96012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Shape 22"/>
          <p:cNvSpPr/>
          <p:nvPr/>
        </p:nvSpPr>
        <p:spPr>
          <a:xfrm>
            <a:off x="7178040" y="118872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9480" y="1280160"/>
            <a:ext cx="457200" cy="45720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640080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SSP 포인트 적립</a:t>
            </a:r>
            <a:endParaRPr lang="en-US" sz="130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240" y="2468880"/>
            <a:ext cx="201168" cy="201168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676656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1km당 10포인트 적립</a:t>
            </a:r>
            <a:endParaRPr lang="en-US" sz="1000" dirty="0"/>
          </a:p>
        </p:txBody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2240" y="2880360"/>
            <a:ext cx="201168" cy="201168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676656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탄소저감량 자동 계산</a:t>
            </a:r>
            <a:endParaRPr lang="en-US" sz="1000" dirty="0"/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2240" y="3291840"/>
            <a:ext cx="201168" cy="201168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676656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관광지 쿠폰 교환</a:t>
            </a:r>
            <a:endParaRPr lang="en-US" sz="1000" dirty="0"/>
          </a:p>
        </p:txBody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2240" y="3703320"/>
            <a:ext cx="201168" cy="201168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676656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완주 인증서 발급</a:t>
            </a:r>
            <a:endParaRPr lang="en-US" sz="1000" dirty="0"/>
          </a:p>
        </p:txBody>
      </p:sp>
      <p:sp>
        <p:nvSpPr>
          <p:cNvPr id="45" name="Shape 28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6" name="Text 29"/>
          <p:cNvSpPr/>
          <p:nvPr/>
        </p:nvSpPr>
        <p:spPr>
          <a:xfrm>
            <a:off x="731520" y="44622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구현: 관광공사 GPX 파일 활용 → 세그먼트 자동 등록 → 스트라바/가민/애플워치 연동으로 기존 이용자 즉시 참여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8개 테마 코스별 디지털 전환과 4단계 리워드 체계로 지속적 참여를 유도합니다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대표코스 60선 카테고리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7160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691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카페/맛집 연계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0" y="137160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1760" y="137160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바다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1691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해산물 쿠폰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14884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14884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468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완주 특별 배지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51760" y="214884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51760" y="214884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283464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2468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자전거카페 제휴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292608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292608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971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2461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난이도 랭킹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51760" y="292608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651760" y="292608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2834640" y="2971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834640" y="32461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장거리 챌린지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370332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370332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역사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4023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오디오 가이드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651760" y="370332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651760" y="370332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2834640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힐링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834640" y="4023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웰니스 연계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스탬프 수집 리워드 체계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46320" y="137160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1371600"/>
            <a:ext cx="73152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그랜드슬래머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순환코스 전체  |  SSP 30,000P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83480" y="2240280"/>
            <a:ext cx="3474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983480" y="2240280"/>
            <a:ext cx="73152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6" name="Text 44"/>
          <p:cNvSpPr/>
          <p:nvPr/>
        </p:nvSpPr>
        <p:spPr>
          <a:xfrm>
            <a:off x="516636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골드 라이더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166360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60개 완주  |  SSP 15,000P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120640" y="3108960"/>
            <a:ext cx="32004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120640" y="3108960"/>
            <a:ext cx="73152" cy="7315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0" name="Text 48"/>
          <p:cNvSpPr/>
          <p:nvPr/>
        </p:nvSpPr>
        <p:spPr>
          <a:xfrm>
            <a:off x="530352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실버 라이더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303520" y="3474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30개 완주  |  SSP 5,000P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57800" y="3977640"/>
            <a:ext cx="29260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257800" y="3977640"/>
            <a:ext cx="73152" cy="7315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4" name="Text 52"/>
          <p:cNvSpPr/>
          <p:nvPr/>
        </p:nvSpPr>
        <p:spPr>
          <a:xfrm>
            <a:off x="544068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브론즈 라이더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44068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 완주  |  SSP 1,500P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846320" y="4572000"/>
            <a:ext cx="3749040" cy="32004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57" name="Text 55"/>
          <p:cNvSpPr/>
          <p:nvPr/>
        </p:nvSpPr>
        <p:spPr>
          <a:xfrm>
            <a:off x="4846320" y="4572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→ 재방문 → 완주 → 지역경제 활성화 선순환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34E4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제안 2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 파크런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같은 시간, 같은 장소 - 대한민국 자전거 파크런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세계 1,100만 명이 참여하는 파크런 모델을 자전거 + 관광에 최적화합니다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파크런(parkrun) 글로벌 성과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1417320"/>
          <a:ext cx="164592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2560320" y="1417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23개국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7472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국가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56032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1,100만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7472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참가자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56032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490개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7472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호주 장소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56032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WHO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7472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모범 사례 인정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846320" y="960120"/>
            <a:ext cx="3840480" cy="182880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02920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한국형 자전거 파크런 적용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0" y="1463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토요일 5km 달리기</a:t>
            </a:r>
            <a:endParaRPr lang="en-US" sz="8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99616"/>
            <a:ext cx="164592" cy="1645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12280" y="1463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토요일 대표코스 라이딩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5029200" y="17739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물리적 바코드</a:t>
            </a:r>
            <a:endParaRPr lang="en-US" sz="8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10512"/>
            <a:ext cx="164592" cy="16459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12280" y="17739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GPS 자동 인증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5029200" y="2084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결과표</a:t>
            </a:r>
            <a:endParaRPr lang="en-US" sz="8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21408"/>
            <a:ext cx="164592" cy="16459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12280" y="2084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리더보드 + 랭킹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5029200" y="2395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참가</a:t>
            </a:r>
            <a:endParaRPr lang="en-US" sz="8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432304"/>
            <a:ext cx="164592" cy="16459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812280" y="2395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+ SSP 포인트 적립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54864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1: 파일럿 5개 거점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548640" y="3429000"/>
            <a:ext cx="1508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548640" y="3429000"/>
            <a:ext cx="1508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27"/>
          <p:cNvSpPr/>
          <p:nvPr/>
        </p:nvSpPr>
        <p:spPr>
          <a:xfrm>
            <a:off x="548640" y="3520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한강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548640" y="3794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여의도~반포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548640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15km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548640" y="43434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접근성 최고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2231136" y="3429000"/>
            <a:ext cx="1508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2231136" y="3429000"/>
            <a:ext cx="1508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3"/>
          <p:cNvSpPr/>
          <p:nvPr/>
        </p:nvSpPr>
        <p:spPr>
          <a:xfrm>
            <a:off x="2231136" y="3520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춘천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2231136" y="3794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의암호 순환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2231136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20km</a:t>
            </a:r>
            <a:endParaRPr lang="en-US" sz="1500" dirty="0"/>
          </a:p>
        </p:txBody>
      </p:sp>
      <p:sp>
        <p:nvSpPr>
          <p:cNvPr id="43" name="Text 36"/>
          <p:cNvSpPr/>
          <p:nvPr/>
        </p:nvSpPr>
        <p:spPr>
          <a:xfrm>
            <a:off x="2231136" y="43434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협력지역</a:t>
            </a:r>
            <a:endParaRPr lang="en-US" sz="800" dirty="0"/>
          </a:p>
        </p:txBody>
      </p:sp>
      <p:sp>
        <p:nvSpPr>
          <p:cNvPr id="44" name="Shape 37"/>
          <p:cNvSpPr/>
          <p:nvPr/>
        </p:nvSpPr>
        <p:spPr>
          <a:xfrm>
            <a:off x="3913632" y="3429000"/>
            <a:ext cx="1508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3913632" y="3429000"/>
            <a:ext cx="1508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6" name="Text 39"/>
          <p:cNvSpPr/>
          <p:nvPr/>
        </p:nvSpPr>
        <p:spPr>
          <a:xfrm>
            <a:off x="3913632" y="3520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경주</a:t>
            </a:r>
            <a:endParaRPr lang="en-US" sz="1200" dirty="0"/>
          </a:p>
        </p:txBody>
      </p:sp>
      <p:sp>
        <p:nvSpPr>
          <p:cNvPr id="47" name="Text 40"/>
          <p:cNvSpPr/>
          <p:nvPr/>
        </p:nvSpPr>
        <p:spPr>
          <a:xfrm>
            <a:off x="3913632" y="3794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역사유적길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3913632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26km</a:t>
            </a:r>
            <a:endParaRPr lang="en-US" sz="1500" dirty="0"/>
          </a:p>
        </p:txBody>
      </p:sp>
      <p:sp>
        <p:nvSpPr>
          <p:cNvPr id="49" name="Text 42"/>
          <p:cNvSpPr/>
          <p:nvPr/>
        </p:nvSpPr>
        <p:spPr>
          <a:xfrm>
            <a:off x="3913632" y="43434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역사+자전거</a:t>
            </a:r>
            <a:endParaRPr lang="en-US" sz="800" dirty="0"/>
          </a:p>
        </p:txBody>
      </p:sp>
      <p:sp>
        <p:nvSpPr>
          <p:cNvPr id="50" name="Shape 43"/>
          <p:cNvSpPr/>
          <p:nvPr/>
        </p:nvSpPr>
        <p:spPr>
          <a:xfrm>
            <a:off x="5596128" y="3429000"/>
            <a:ext cx="1508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4"/>
          <p:cNvSpPr/>
          <p:nvPr/>
        </p:nvSpPr>
        <p:spPr>
          <a:xfrm>
            <a:off x="5596128" y="3429000"/>
            <a:ext cx="1508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2" name="Text 45"/>
          <p:cNvSpPr/>
          <p:nvPr/>
        </p:nvSpPr>
        <p:spPr>
          <a:xfrm>
            <a:off x="5596128" y="3520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제주</a:t>
            </a:r>
            <a:endParaRPr lang="en-US" sz="1200" dirty="0"/>
          </a:p>
        </p:txBody>
      </p:sp>
      <p:sp>
        <p:nvSpPr>
          <p:cNvPr id="53" name="Text 46"/>
          <p:cNvSpPr/>
          <p:nvPr/>
        </p:nvSpPr>
        <p:spPr>
          <a:xfrm>
            <a:off x="5596128" y="3794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해안도로</a:t>
            </a:r>
            <a:endParaRPr lang="en-US" sz="800" dirty="0"/>
          </a:p>
        </p:txBody>
      </p:sp>
      <p:sp>
        <p:nvSpPr>
          <p:cNvPr id="54" name="Text 47"/>
          <p:cNvSpPr/>
          <p:nvPr/>
        </p:nvSpPr>
        <p:spPr>
          <a:xfrm>
            <a:off x="5596128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20km</a:t>
            </a:r>
            <a:endParaRPr lang="en-US" sz="1500" dirty="0"/>
          </a:p>
        </p:txBody>
      </p:sp>
      <p:sp>
        <p:nvSpPr>
          <p:cNvPr id="55" name="Text 48"/>
          <p:cNvSpPr/>
          <p:nvPr/>
        </p:nvSpPr>
        <p:spPr>
          <a:xfrm>
            <a:off x="5596128" y="43434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관광수요 최고</a:t>
            </a:r>
            <a:endParaRPr lang="en-US" sz="800" dirty="0"/>
          </a:p>
        </p:txBody>
      </p:sp>
      <p:sp>
        <p:nvSpPr>
          <p:cNvPr id="56" name="Shape 49"/>
          <p:cNvSpPr/>
          <p:nvPr/>
        </p:nvSpPr>
        <p:spPr>
          <a:xfrm>
            <a:off x="7278624" y="3429000"/>
            <a:ext cx="1508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7" name="Shape 50"/>
          <p:cNvSpPr/>
          <p:nvPr/>
        </p:nvSpPr>
        <p:spPr>
          <a:xfrm>
            <a:off x="7278624" y="3429000"/>
            <a:ext cx="1508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8" name="Text 51"/>
          <p:cNvSpPr/>
          <p:nvPr/>
        </p:nvSpPr>
        <p:spPr>
          <a:xfrm>
            <a:off x="7278624" y="3520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부산</a:t>
            </a:r>
            <a:endParaRPr lang="en-US" sz="1200" dirty="0"/>
          </a:p>
        </p:txBody>
      </p:sp>
      <p:sp>
        <p:nvSpPr>
          <p:cNvPr id="59" name="Text 52"/>
          <p:cNvSpPr/>
          <p:nvPr/>
        </p:nvSpPr>
        <p:spPr>
          <a:xfrm>
            <a:off x="7278624" y="3794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낙동강 하구</a:t>
            </a:r>
            <a:endParaRPr lang="en-US" sz="800" dirty="0"/>
          </a:p>
        </p:txBody>
      </p:sp>
      <p:sp>
        <p:nvSpPr>
          <p:cNvPr id="60" name="Text 53"/>
          <p:cNvSpPr/>
          <p:nvPr/>
        </p:nvSpPr>
        <p:spPr>
          <a:xfrm>
            <a:off x="7278624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15km</a:t>
            </a:r>
            <a:endParaRPr lang="en-US" sz="1500" dirty="0"/>
          </a:p>
        </p:txBody>
      </p:sp>
      <p:sp>
        <p:nvSpPr>
          <p:cNvPr id="61" name="Text 54"/>
          <p:cNvSpPr/>
          <p:nvPr/>
        </p:nvSpPr>
        <p:spPr>
          <a:xfrm>
            <a:off x="7278624" y="43434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남부권 거점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"대한민국 한 바퀴" 2,237km 그랜드슬램으로 전국 재방문 유도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완주 캠페인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4114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캠페인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거리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리워드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국토종주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633km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SSP 6,330P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4대강 종주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종합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SSP 8,000P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동해안 종주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318km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SSP 3,180P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제주 일주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234km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SSP 2,340P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그랜드슬램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2,237km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SSP 22,370P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93776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구간 랭킹 시스템 (스트라바 영감)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37760" y="1325880"/>
            <a:ext cx="37490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4356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3716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코스 킹/퀸 (KOR/QOR)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0" y="16184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남/녀 최단 시간 기록 보유자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937760" y="1984248"/>
            <a:ext cx="37490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09397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86400" y="2029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단골 라이더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486400" y="22768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90일 내 최다 완주자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937760" y="2642616"/>
            <a:ext cx="37490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752344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0" y="26883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연령대/지역별 순위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486400" y="29352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20대~50대+ / 시도별 필터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4937760" y="3300984"/>
            <a:ext cx="37490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410712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86400" y="33467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시즌 랭킹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486400" y="35935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분기별 종합 순위 + 시상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4937760" y="3959352"/>
            <a:ext cx="37490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4069080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86400" y="40050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동호회 대항전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5486400" y="42519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랭킹으로 단체 참여 유도</a:t>
            </a:r>
            <a:endParaRPr lang="en-US" sz="9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548640" y="3794760"/>
          <a:ext cx="4114800" cy="1097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34E4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제안 3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협업 친환경 캠페인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라이딩으로 지구를 지키다 - 탄소저감 캠페인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3개의 ESG 캠페인으로 탄소저감 성과를 정량화하고 지역경제를 활성화합니다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914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 1km 라이딩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1051560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0" y="914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CO₂ 저감량 자동계산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05156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914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SSP 10P 자동적립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051560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66560" y="914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쿠폰/용품 교환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48640" y="1554480"/>
            <a:ext cx="265176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48640" y="1554480"/>
            <a:ext cx="2651760" cy="54864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69164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Green Ride Korea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73152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국가 탄소저감 라이딩 캠페인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73152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60선 라이딩 시 탄소저감량 자동 집계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73152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전국 실시간 대시보드 공개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73152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100톤 CO₂ 저감 목표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383280" y="1554480"/>
            <a:ext cx="265176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383280" y="155448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169164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93192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Zero Carbon Tour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356616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탄소 제로 여행 인증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356616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자전거로만 여행 시 인증 배지 발급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356616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품질인증 업소 방문 추가 포인트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356616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보고서 실적 반영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217920" y="1554480"/>
            <a:ext cx="265176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17920" y="155448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69164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6656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Ride for Local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40080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지역경제 활성화 캠페인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640080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완주 후 지역 SSP 쿠폰 자동 발급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640080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지역별 관광 기여도 분석 리포트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640080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춘천마라톤: 숙박 +61.8% 벤치마크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성과 측정 체계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17520" y="3840480"/>
          <a:ext cx="56692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지표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측정 방식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주기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탄소저감량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SSP 자동 집계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월간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참가자 수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앱 + 이벤트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월간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지역경제 기여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쿠폰 데이터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분기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관광공사 GPX 데이터를 활용하여 약 6주 내 시스템 구축 가능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3716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601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접점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100584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0" y="1005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라이트브라더스 앱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94760" y="100584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94760" y="1005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스트라바 연동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0" y="100584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1005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가민/애플워치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78040" y="100584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78040" y="1005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관광공사 홈페이지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173736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920240"/>
            <a:ext cx="13716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19202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시스템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03120" y="19659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103120" y="19659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GPS 매칭/세그먼트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94760" y="19659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794760" y="19659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SSP 포인트 엔진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0" y="19659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0" y="19659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랭킹 리더보드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78040" y="19659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78040" y="19659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스탬프/배지 관리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269748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2880360"/>
            <a:ext cx="1371600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28803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분석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03120" y="292608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103120" y="29260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탄소저감 자동계산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94760" y="292608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794760" y="29260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 기여도 분석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0" y="292608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86400" y="29260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 패턴 분석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78040" y="292608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178040" y="29260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대시보드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3886200"/>
            <a:ext cx="80467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977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GPX 데이터 활용 로드맵 (약 6주)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188720" y="42519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118872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2296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GPX 임포트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600200" y="4462272"/>
            <a:ext cx="173736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37560" y="42519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333756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2-3주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97180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세그먼트 변환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749040" y="4462272"/>
            <a:ext cx="173736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0" y="42519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12064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체크포인트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897880" y="4462272"/>
            <a:ext cx="173736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35240" y="42519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3" name="Text 51"/>
          <p:cNvSpPr/>
          <p:nvPr/>
        </p:nvSpPr>
        <p:spPr>
          <a:xfrm>
            <a:off x="763524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5-6주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26948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라이딩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Q2 기획, Q3 파일럿, 2027년 전국 확대 - 10만 명 참가 목표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196596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기획/개발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Q2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MOU 체결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세그먼트 개발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0604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868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스탬프 시스템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7180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거점 답사</a:t>
            </a:r>
            <a:endParaRPr lang="en-US" sz="9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337560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868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기획</a:t>
            </a:r>
            <a:endParaRPr lang="en-US" sz="9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1143000"/>
            <a:ext cx="182880" cy="18288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2697480" y="1005840"/>
            <a:ext cx="196596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3"/>
          <p:cNvSpPr/>
          <p:nvPr/>
        </p:nvSpPr>
        <p:spPr>
          <a:xfrm>
            <a:off x="2697480" y="1005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파일럿 런칭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2697480" y="1325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Q3</a:t>
            </a:r>
            <a:endParaRPr lang="en-US" sz="9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8920" y="1874520"/>
            <a:ext cx="182880" cy="1828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01752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스탬프 베타 오픈</a:t>
            </a:r>
            <a:endParaRPr lang="en-US" sz="9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8920" y="2240280"/>
            <a:ext cx="182880" cy="18288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01752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파크런 첫 개최</a:t>
            </a:r>
            <a:endParaRPr lang="en-US" sz="9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88920" y="2606040"/>
            <a:ext cx="182880" cy="18288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301752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랭킹 시스템</a:t>
            </a:r>
            <a:endParaRPr lang="en-US" sz="9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88920" y="2971800"/>
            <a:ext cx="182880" cy="18288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301752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Green Ride 런칭</a:t>
            </a:r>
            <a:endParaRPr lang="en-US" sz="9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88920" y="3337560"/>
            <a:ext cx="182880" cy="18288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301752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미디어 PR</a:t>
            </a:r>
            <a:endParaRPr lang="en-US" sz="9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3440" y="1143000"/>
            <a:ext cx="182880" cy="182880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4846320" y="1005840"/>
            <a:ext cx="196596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Text 21"/>
          <p:cNvSpPr/>
          <p:nvPr/>
        </p:nvSpPr>
        <p:spPr>
          <a:xfrm>
            <a:off x="4846320" y="1005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</a:t>
            </a:r>
            <a:endParaRPr lang="en-US" sz="1200" dirty="0"/>
          </a:p>
        </p:txBody>
      </p:sp>
      <p:sp>
        <p:nvSpPr>
          <p:cNvPr id="36" name="Text 22"/>
          <p:cNvSpPr/>
          <p:nvPr/>
        </p:nvSpPr>
        <p:spPr>
          <a:xfrm>
            <a:off x="4846320" y="1325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Q4</a:t>
            </a:r>
            <a:endParaRPr lang="en-US" sz="9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37760" y="1874520"/>
            <a:ext cx="182880" cy="18288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516636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 거점 정식 운영</a:t>
            </a:r>
            <a:endParaRPr lang="en-US" sz="900" dirty="0"/>
          </a:p>
        </p:txBody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37760" y="2240280"/>
            <a:ext cx="182880" cy="18288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516636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완주 캠페인 가동</a:t>
            </a:r>
            <a:endParaRPr lang="en-US" sz="900" dirty="0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37760" y="2606040"/>
            <a:ext cx="182880" cy="18288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516636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시즌1 시상</a:t>
            </a:r>
            <a:endParaRPr lang="en-US" sz="900" dirty="0"/>
          </a:p>
        </p:txBody>
      </p:sp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37760" y="2971800"/>
            <a:ext cx="182880" cy="182880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516636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보고서</a:t>
            </a:r>
            <a:endParaRPr lang="en-US" sz="900" dirty="0"/>
          </a:p>
        </p:txBody>
      </p:sp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37760" y="3337560"/>
            <a:ext cx="182880" cy="182880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516636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2027 계획</a:t>
            </a:r>
            <a:endParaRPr lang="en-US" sz="900" dirty="0"/>
          </a:p>
        </p:txBody>
      </p:sp>
      <p:pic>
        <p:nvPicPr>
          <p:cNvPr id="47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12280" y="1143000"/>
            <a:ext cx="182880" cy="182880"/>
          </a:xfrm>
          <a:prstGeom prst="rect">
            <a:avLst/>
          </a:prstGeom>
        </p:spPr>
      </p:pic>
      <p:sp>
        <p:nvSpPr>
          <p:cNvPr id="48" name="Shape 28"/>
          <p:cNvSpPr/>
          <p:nvPr/>
        </p:nvSpPr>
        <p:spPr>
          <a:xfrm>
            <a:off x="6995160" y="1005840"/>
            <a:ext cx="196596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9" name="Text 29"/>
          <p:cNvSpPr/>
          <p:nvPr/>
        </p:nvSpPr>
        <p:spPr>
          <a:xfrm>
            <a:off x="6995160" y="1005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전국 확대</a:t>
            </a:r>
            <a:endParaRPr lang="en-US" sz="1200" dirty="0"/>
          </a:p>
        </p:txBody>
      </p:sp>
      <p:sp>
        <p:nvSpPr>
          <p:cNvPr id="50" name="Text 30"/>
          <p:cNvSpPr/>
          <p:nvPr/>
        </p:nvSpPr>
        <p:spPr>
          <a:xfrm>
            <a:off x="6995160" y="1325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2027</a:t>
            </a:r>
            <a:endParaRPr lang="en-US" sz="900" dirty="0"/>
          </a:p>
        </p:txBody>
      </p:sp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86600" y="1874520"/>
            <a:ext cx="182880" cy="182880"/>
          </a:xfrm>
          <a:prstGeom prst="rect">
            <a:avLst/>
          </a:prstGeom>
        </p:spPr>
      </p:pic>
      <p:sp>
        <p:nvSpPr>
          <p:cNvPr id="52" name="Text 31"/>
          <p:cNvSpPr/>
          <p:nvPr/>
        </p:nvSpPr>
        <p:spPr>
          <a:xfrm>
            <a:off x="731520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20개 거점 확대</a:t>
            </a:r>
            <a:endParaRPr lang="en-US" sz="900" dirty="0"/>
          </a:p>
        </p:txBody>
      </p:sp>
      <p:pic>
        <p:nvPicPr>
          <p:cNvPr id="53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86600" y="2240280"/>
            <a:ext cx="182880" cy="182880"/>
          </a:xfrm>
          <a:prstGeom prst="rect">
            <a:avLst/>
          </a:prstGeom>
        </p:spPr>
      </p:pic>
      <p:sp>
        <p:nvSpPr>
          <p:cNvPr id="54" name="Text 32"/>
          <p:cNvSpPr/>
          <p:nvPr/>
        </p:nvSpPr>
        <p:spPr>
          <a:xfrm>
            <a:off x="731520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60선 전체 전환</a:t>
            </a:r>
            <a:endParaRPr lang="en-US" sz="900" dirty="0"/>
          </a:p>
        </p:txBody>
      </p:sp>
      <p:pic>
        <p:nvPicPr>
          <p:cNvPr id="55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86600" y="2606040"/>
            <a:ext cx="182880" cy="182880"/>
          </a:xfrm>
          <a:prstGeom prst="rect">
            <a:avLst/>
          </a:prstGeom>
        </p:spPr>
      </p:pic>
      <p:sp>
        <p:nvSpPr>
          <p:cNvPr id="56" name="Text 33"/>
          <p:cNvSpPr/>
          <p:nvPr/>
        </p:nvSpPr>
        <p:spPr>
          <a:xfrm>
            <a:off x="731520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그랜드슬램</a:t>
            </a:r>
            <a:endParaRPr lang="en-US" sz="900" dirty="0"/>
          </a:p>
        </p:txBody>
      </p:sp>
      <p:pic>
        <p:nvPicPr>
          <p:cNvPr id="57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86600" y="2971800"/>
            <a:ext cx="182880" cy="182880"/>
          </a:xfrm>
          <a:prstGeom prst="rect">
            <a:avLst/>
          </a:prstGeom>
        </p:spPr>
      </p:pic>
      <p:sp>
        <p:nvSpPr>
          <p:cNvPr id="58" name="Text 34"/>
          <p:cNvSpPr/>
          <p:nvPr/>
        </p:nvSpPr>
        <p:spPr>
          <a:xfrm>
            <a:off x="731520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인바운드 유치</a:t>
            </a:r>
            <a:endParaRPr lang="en-US" sz="900" dirty="0"/>
          </a:p>
        </p:txBody>
      </p:sp>
      <p:pic>
        <p:nvPicPr>
          <p:cNvPr id="59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086600" y="3337560"/>
            <a:ext cx="182880" cy="182880"/>
          </a:xfrm>
          <a:prstGeom prst="rect">
            <a:avLst/>
          </a:prstGeom>
        </p:spPr>
      </p:pic>
      <p:sp>
        <p:nvSpPr>
          <p:cNvPr id="60" name="Text 35"/>
          <p:cNvSpPr/>
          <p:nvPr/>
        </p:nvSpPr>
        <p:spPr>
          <a:xfrm>
            <a:off x="731520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연간보고</a:t>
            </a:r>
            <a:endParaRPr lang="en-US" sz="900" dirty="0"/>
          </a:p>
        </p:txBody>
      </p:sp>
      <p:sp>
        <p:nvSpPr>
          <p:cNvPr id="61" name="Text 36"/>
          <p:cNvSpPr/>
          <p:nvPr/>
        </p:nvSpPr>
        <p:spPr>
          <a:xfrm>
            <a:off x="54864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참가자 목표</a:t>
            </a:r>
            <a:endParaRPr lang="en-US" sz="1100" dirty="0"/>
          </a:p>
        </p:txBody>
      </p:sp>
      <p:graphicFrame>
        <p:nvGraphicFramePr>
          <p:cNvPr id="62" name="Chart 0" descr=""/>
          <p:cNvGraphicFramePr/>
          <p:nvPr/>
        </p:nvGraphicFramePr>
        <p:xfrm>
          <a:off x="548640" y="3840480"/>
          <a:ext cx="8229600" cy="1051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4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1차년도 6.5억 원 투자 대비 3.1억 원 수익, 2차년도 BEP 목표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 비용 추정 (1차년도)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188720"/>
          <a:ext cx="25603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1234440"/>
          <a:ext cx="4114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금액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분담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시스템 개발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2.0억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라이트브라더스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앱 고도화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1.5억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라이트브라더스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이벤트/ESG/마케팅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2.5억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공동 분담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SSP 원가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0.5억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라이트브라더스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합계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6.5억 원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84632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모델 (1차년도)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548640" y="3566160"/>
          <a:ext cx="41148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6"/>
          <p:cNvSpPr/>
          <p:nvPr/>
        </p:nvSpPr>
        <p:spPr>
          <a:xfrm>
            <a:off x="4937760" y="3657600"/>
            <a:ext cx="3657600" cy="128016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512064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대비 기대 효과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120640" y="40690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 관광 5만 명 신규 유입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대표코스 60선 인지도 300% 향상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100톤 CO₂ 저감 (ESG 활용)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 관광 빅데이터 확보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 활성화 → 지역경제 → 탄소 저감 → 국민 건강 선순환 실현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 관광 활성화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300%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3152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대표코스 60선 이용률 향상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83280" y="10058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0058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1887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2336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MZ세대 유입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56616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5만 명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356616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2027년 신규 참가자 목표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17920" y="10058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0058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5800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지역경제 활성화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40080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+61.8%</a:t>
            </a:r>
            <a:endParaRPr lang="en-US" sz="2800" dirty="0"/>
          </a:p>
        </p:txBody>
      </p:sp>
      <p:sp>
        <p:nvSpPr>
          <p:cNvPr id="23" name="Text 18"/>
          <p:cNvSpPr/>
          <p:nvPr/>
        </p:nvSpPr>
        <p:spPr>
          <a:xfrm>
            <a:off x="640080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숙박업 매출 증가 벤치마크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48640" y="28346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48640" y="28346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1752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8872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탄소저감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3152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100톤</a:t>
            </a:r>
            <a:endParaRPr lang="en-US" sz="2800" dirty="0"/>
          </a:p>
        </p:txBody>
      </p:sp>
      <p:sp>
        <p:nvSpPr>
          <p:cNvPr id="29" name="Text 23"/>
          <p:cNvSpPr/>
          <p:nvPr/>
        </p:nvSpPr>
        <p:spPr>
          <a:xfrm>
            <a:off x="73152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CO₂ 저감 목표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383280" y="28346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383280" y="28346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01752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02336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빅데이터 확보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356616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실시간</a:t>
            </a:r>
            <a:endParaRPr lang="en-US" sz="2800" dirty="0"/>
          </a:p>
        </p:txBody>
      </p:sp>
      <p:sp>
        <p:nvSpPr>
          <p:cNvPr id="35" name="Text 28"/>
          <p:cNvSpPr/>
          <p:nvPr/>
        </p:nvSpPr>
        <p:spPr>
          <a:xfrm>
            <a:off x="356616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 관광 데이터 축적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6217920" y="28346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217920" y="28346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017520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8580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인바운드 관광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640080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글로벌</a:t>
            </a:r>
            <a:endParaRPr lang="en-US" sz="2800" dirty="0"/>
          </a:p>
        </p:txBody>
      </p:sp>
      <p:sp>
        <p:nvSpPr>
          <p:cNvPr id="41" name="Text 33"/>
          <p:cNvSpPr/>
          <p:nvPr/>
        </p:nvSpPr>
        <p:spPr>
          <a:xfrm>
            <a:off x="640080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파크런 브랜드 해외 유치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관광공사는 콘텐츠와 채널을, 라이트브라더스는 기술과 운영을 담당합니다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4572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한국관광공사 제공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GPX 데이터 (60선 + 순환코스)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 콘텐츠 API 연동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6888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2423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공동 브랜딩 로고/마케팅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80360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홍보 채널 (홈페이지/SNS)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91840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156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배지랜드 시스템 연계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703320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51560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품질인증 업소 쿠폰 협의</a:t>
            </a:r>
            <a:endParaRPr lang="en-US" sz="10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114800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05156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지자체 협력 중재</a:t>
            </a:r>
            <a:endParaRPr lang="en-US" sz="10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1960" y="2377440"/>
            <a:ext cx="640080" cy="640080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14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라이트브라더스 제공</a:t>
            </a:r>
            <a:endParaRPr lang="en-US" sz="14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1645920"/>
            <a:ext cx="201168" cy="20116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34924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플랫폼 전체 개발/운영</a:t>
            </a:r>
            <a:endParaRPr lang="en-US" sz="10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2057400"/>
            <a:ext cx="201168" cy="20116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349240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SSP 포인트 인프라</a:t>
            </a:r>
            <a:endParaRPr lang="en-US" sz="100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2468880"/>
            <a:ext cx="201168" cy="201168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349240" y="2423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스트라바/가민 연동 기술</a:t>
            </a:r>
            <a:endParaRPr lang="en-US" sz="100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2880360"/>
            <a:ext cx="201168" cy="201168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5349240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분석 리포트</a:t>
            </a:r>
            <a:endParaRPr lang="en-US" sz="10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9200" y="3291840"/>
            <a:ext cx="201168" cy="201168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534924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파크런 이벤트 기획/운영</a:t>
            </a:r>
            <a:endParaRPr lang="en-US" sz="1000" dirty="0"/>
          </a:p>
        </p:txBody>
      </p:sp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29200" y="3703320"/>
            <a:ext cx="201168" cy="201168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5349240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 동호회 네트워크</a:t>
            </a:r>
            <a:endParaRPr lang="en-US" sz="1000" dirty="0"/>
          </a:p>
        </p:txBody>
      </p:sp>
      <p:pic>
        <p:nvPicPr>
          <p:cNvPr id="37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29200" y="4114800"/>
            <a:ext cx="201168" cy="201168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534924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개발비 4억 원 부담</a:t>
            </a:r>
            <a:endParaRPr lang="en-US" sz="1000" dirty="0"/>
          </a:p>
        </p:txBody>
      </p:sp>
      <p:sp>
        <p:nvSpPr>
          <p:cNvPr id="39" name="Shape 22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40" name="Text 2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관광공사의 콘텐츠/네트워크 + 라이트브라더스의 기술/커뮤니티 = 최적의 시너지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성공 사례가 증명하는 자전거+디지털+커뮤니티 모델의 가능성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parkrun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호주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100만 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무료 5km 러닝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WHO 모범 사례 인정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100584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97480" y="1005840"/>
            <a:ext cx="19659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1188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Strava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97480" y="1554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9748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1.8억 명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880360" y="2560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GPS 구간 랭킹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기업가치 3조 원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100584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00584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188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Komoot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1554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독일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유럽 1위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0" y="2560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아웃도어 코스 + 내비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유럽 자전거 관광 선도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95160" y="100584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95160" y="100584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1188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EuroVelo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95160" y="1554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EU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9516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90,000km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178040" y="2560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17개 루트 네트워크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유럽 자전거 관광 인프라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4023360"/>
            <a:ext cx="8046720" cy="82296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1520" y="4114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시사점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+ 정기적 + 커뮤니티 = 대규모 참여 (parkrun 검증)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GPS 기반 구간 랭킹은 이미 1.8억 명이 사용 (Strava 검증)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한국은 인프라(27,754km) + 디지털 역량 + 관광 콘텐츠를 모두 갖춘 최적의 시장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미팅 제안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라이트브라더스 회사 소개 + SSP 시스템 데모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1645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1945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스탬프 투어 솔루션 제안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6974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6304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 파크런 모델 제안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651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32004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6304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캠페인 제안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154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37033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Q&amp;A 및 협업 범위 논의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3657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97280" y="2048256"/>
            <a:ext cx="0" cy="150876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4297680"/>
            <a:ext cx="6400800" cy="41148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42976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소요시간: 약 80분  |  장소: 관광공사 원주 본사 / 라이트브라더스 세빛 쇼룸 / 화상회의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34E4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자전거로 대한민국을 달리며,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관광을 즐기고, 탄소를 줄이는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여행 문화를 함께 만들어가겠습니다.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(주)라이트브라더스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8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Pretendard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Pretendard"/>
        <a:font script="Hebr" typeface="Pretendar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Pretendard"/>
        <a:font script="Uigh" typeface="Microsoft Uighur"/>
        <a:font script="Geor" typeface="Sylfaen"/>
        <a:font script="Armn" typeface="Pretendard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Pretendard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한국관광공사 x 라이트브라더스 사업제안서</dc:title>
  <dc:subject>PptxGenJS Presentation</dc:subject>
  <dc:creator>라이트브라더스</dc:creator>
  <cp:lastModifiedBy>라이트브라더스</cp:lastModifiedBy>
  <cp:revision>1</cp:revision>
  <dcterms:created xsi:type="dcterms:W3CDTF">2026-03-23T03:05:59Z</dcterms:created>
  <dcterms:modified xsi:type="dcterms:W3CDTF">2026-03-23T03:05:59Z</dcterms:modified>
</cp:coreProperties>
</file>